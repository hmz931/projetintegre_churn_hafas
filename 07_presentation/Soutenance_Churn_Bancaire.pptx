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présenter brièvement, annoncer l'équipe, le tuteur, la durée : 20 min de présentation + 10 min de questions. Insister sur le fil rouge : de la donnée brute à une application de scoring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qu'acquérir un nouveau client coûte 5 à 7 fois plus cher que d'en retenir un. Le churn bancaire est silencieux : le client part sans prévenir. D'où l'intérêt d'un modèle prédictif exploitable par les chargés de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différence entre grain compte (36,1%) et grain événement (41,2%) : ce n'est pas une contradiction, c'est le fait qu'un compte qui churne génère souvent plusieurs événements. Expliquer la chute 528K → 445K : nettoyage, dédoublonnage, cohérence.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Décrire le flux de gauche à droite. Insister sur le fait que chaque étape est reproductible et versionnée (Git). Le schéma en étoile facilite les requêtes analytiques et l'alimentation de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clé : la valeur de l'ETL, c'est ce qu'il empêche. Sans nos 7 corrections, tous les indicateurs downstream étaient faux. Raconter l'histoire de la date d'extraction polluant les dates d'ouverture — c'est le bug le plus parlant.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schéma en étoile chargé dans pgAdmin. Expliquer le choix des clés de substitution textuelles (CLI_000001) : traçabilité humaine + indépendance vis-à-vis des IDs métier qui peuvent changer.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Basculer sur le dashboard Power BI pendant 30 sec. Insister sur la lecture business : churn 41,16%, rétention 58,84%, décomposition par segment / produit / risque. La VaR est le pont vers la lecture financière du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d'orgue : raconter la fuite de données. Le premier XGBoost affichait 89,5% d'importance sur une variable qui n'existait qu'après le churn — donc modèle triché. Détection, retrait, réentraînement. C'est cette rigueur qui distingue un projet universitaire sérieux.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à 4 segments, mais attention aux tailles très déséquilibrées (dont un cluster de 12 individus atypiques). Isolation Forest complète en détectant les vraies anomalies comportementales.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Enchaîner sur la démo live juste après. 4 pages, scoring temps réel. Insister : ce n'est pas un notebook, c'est une app utilisable par un chargé de clientèle sans connaissance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Assumer les limites : c'est un gage de sérieux. Validation croisée non faite (par manque de temps), pas encore de SHAP pour l'interprétabilité individuelle, quelques écarts entre le notebook exploratoire et le pipeline de production restent à réconcilier.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les 3 chiffres à retenir : 445K événements nettoyés, XGBoost F1 = 0,95, une app livrée. Remercier l'encadrant, l'école, et l'équipe. Ouvrir sur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bonus si le temps le permet. Insister sur le travail transversal : les branches Git ne sont pas des silos, chacun a contribué à plusieurs étapes. Trello pour le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76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5394"/>
          </a:solidFill>
          <a:ln/>
        </p:spPr>
      </p:sp>
      <p:sp>
        <p:nvSpPr>
          <p:cNvPr id="3" name="Shape 1"/>
          <p:cNvSpPr/>
          <p:nvPr/>
        </p:nvSpPr>
        <p:spPr>
          <a:xfrm>
            <a:off x="0" y="0"/>
            <a:ext cx="7315017" cy="6858000"/>
          </a:xfrm>
          <a:prstGeom prst="rect">
            <a:avLst/>
          </a:prstGeom>
          <a:solidFill>
            <a:srgbClr val="073763"/>
          </a:solidFill>
          <a:ln/>
        </p:spPr>
      </p:sp>
      <p:sp>
        <p:nvSpPr>
          <p:cNvPr id="4" name="Shape 2"/>
          <p:cNvSpPr/>
          <p:nvPr/>
        </p:nvSpPr>
        <p:spPr>
          <a:xfrm>
            <a:off x="548640" y="502920"/>
            <a:ext cx="640080" cy="457200"/>
          </a:xfrm>
          <a:prstGeom prst="rect">
            <a:avLst/>
          </a:prstGeom>
          <a:solidFill>
            <a:srgbClr val="C8102E"/>
          </a:solidFill>
          <a:ln w="12700">
            <a:solidFill>
              <a:srgbClr val="C8102E"/>
            </a:solidFill>
            <a:prstDash val="solid"/>
          </a:ln>
        </p:spPr>
      </p:sp>
      <p:sp>
        <p:nvSpPr>
          <p:cNvPr id="5" name="Text 3"/>
          <p:cNvSpPr/>
          <p:nvPr/>
        </p:nvSpPr>
        <p:spPr>
          <a:xfrm>
            <a:off x="548640" y="502920"/>
            <a:ext cx="64008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ESB</a:t>
            </a:r>
            <a:endParaRPr lang="en-US" sz="1300" dirty="0"/>
          </a:p>
        </p:txBody>
      </p:sp>
      <p:sp>
        <p:nvSpPr>
          <p:cNvPr id="6" name="Text 4"/>
          <p:cNvSpPr/>
          <p:nvPr/>
        </p:nvSpPr>
        <p:spPr>
          <a:xfrm>
            <a:off x="1280160" y="502920"/>
            <a:ext cx="54864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ESPRIT School of Business</a:t>
            </a:r>
            <a:endParaRPr lang="en-US" sz="1400" dirty="0"/>
          </a:p>
        </p:txBody>
      </p:sp>
      <p:sp>
        <p:nvSpPr>
          <p:cNvPr id="7" name="Shape 5"/>
          <p:cNvSpPr/>
          <p:nvPr/>
        </p:nvSpPr>
        <p:spPr>
          <a:xfrm>
            <a:off x="8808415" y="548640"/>
            <a:ext cx="2834640" cy="384048"/>
          </a:xfrm>
          <a:prstGeom prst="roundRect">
            <a:avLst>
              <a:gd name="adj" fmla="val 50000"/>
            </a:avLst>
          </a:prstGeom>
          <a:solidFill>
            <a:srgbClr val="C8102E"/>
          </a:solidFill>
          <a:ln w="12700">
            <a:solidFill>
              <a:srgbClr val="C8102E"/>
            </a:solidFill>
            <a:prstDash val="solid"/>
          </a:ln>
        </p:spPr>
      </p:sp>
      <p:sp>
        <p:nvSpPr>
          <p:cNvPr id="8" name="Text 6"/>
          <p:cNvSpPr/>
          <p:nvPr/>
        </p:nvSpPr>
        <p:spPr>
          <a:xfrm>
            <a:off x="8808415" y="548640"/>
            <a:ext cx="2834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M1 Business Analytics · 2025 / 2026</a:t>
            </a:r>
            <a:endParaRPr lang="en-US" sz="1100" dirty="0"/>
          </a:p>
        </p:txBody>
      </p:sp>
      <p:sp>
        <p:nvSpPr>
          <p:cNvPr id="9" name="Text 7"/>
          <p:cNvSpPr/>
          <p:nvPr/>
        </p:nvSpPr>
        <p:spPr>
          <a:xfrm>
            <a:off x="548640" y="1828800"/>
            <a:ext cx="7315200" cy="320040"/>
          </a:xfrm>
          <a:prstGeom prst="rect">
            <a:avLst/>
          </a:prstGeom>
          <a:noFill/>
          <a:ln/>
        </p:spPr>
        <p:txBody>
          <a:bodyPr wrap="square" rtlCol="0" anchor="ctr"/>
          <a:lstStyle/>
          <a:p>
            <a:pPr indent="0" marL="0">
              <a:buNone/>
            </a:pPr>
            <a:r>
              <a:rPr lang="en-US" sz="1300" b="1" spc="600" kern="0" dirty="0">
                <a:solidFill>
                  <a:srgbClr val="8FB8E0"/>
                </a:solidFill>
                <a:latin typeface="Calibri" pitchFamily="34" charset="0"/>
                <a:ea typeface="Calibri" pitchFamily="34" charset="-122"/>
                <a:cs typeface="Calibri" pitchFamily="34" charset="-120"/>
              </a:rPr>
              <a:t>PROJET INTÉGRÉ · SOUTENANCE</a:t>
            </a:r>
            <a:endParaRPr lang="en-US" sz="1300" dirty="0"/>
          </a:p>
        </p:txBody>
      </p:sp>
      <p:sp>
        <p:nvSpPr>
          <p:cNvPr id="10" name="Text 8"/>
          <p:cNvSpPr/>
          <p:nvPr/>
        </p:nvSpPr>
        <p:spPr>
          <a:xfrm>
            <a:off x="548640" y="2194560"/>
            <a:ext cx="10972800" cy="219456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Analyse &amp; Prédiction
</a:t>
            </a:r>
            <a:pPr indent="0" marL="0">
              <a:buNone/>
            </a:pPr>
            <a:r>
              <a:rPr lang="en-US" sz="5400" b="1" dirty="0">
                <a:solidFill>
                  <a:srgbClr val="FFFFFF"/>
                </a:solidFill>
                <a:latin typeface="Calibri" pitchFamily="34" charset="0"/>
                <a:ea typeface="Calibri" pitchFamily="34" charset="-122"/>
                <a:cs typeface="Calibri" pitchFamily="34" charset="-120"/>
              </a:rPr>
              <a:t>du </a:t>
            </a:r>
            <a:pPr indent="0" marL="0">
              <a:buNone/>
            </a:pPr>
            <a:r>
              <a:rPr lang="en-US" sz="5400" b="1" dirty="0">
                <a:solidFill>
                  <a:srgbClr val="FF6B7A"/>
                </a:solidFill>
                <a:latin typeface="Calibri" pitchFamily="34" charset="0"/>
                <a:ea typeface="Calibri" pitchFamily="34" charset="-122"/>
                <a:cs typeface="Calibri" pitchFamily="34" charset="-120"/>
              </a:rPr>
              <a:t>Churn Client</a:t>
            </a:r>
            <a:pPr indent="0" marL="0">
              <a:buNone/>
            </a:pPr>
            <a:r>
              <a:rPr lang="en-US" sz="5400" b="1" dirty="0">
                <a:solidFill>
                  <a:srgbClr val="FFFFFF"/>
                </a:solidFill>
                <a:latin typeface="Calibri" pitchFamily="34" charset="0"/>
                <a:ea typeface="Calibri" pitchFamily="34" charset="-122"/>
                <a:cs typeface="Calibri" pitchFamily="34" charset="-120"/>
              </a:rPr>
              <a:t> Bancaire</a:t>
            </a:r>
            <a:endParaRPr lang="en-US" sz="5400" dirty="0"/>
          </a:p>
        </p:txBody>
      </p:sp>
      <p:sp>
        <p:nvSpPr>
          <p:cNvPr id="11" name="Text 9"/>
          <p:cNvSpPr/>
          <p:nvPr/>
        </p:nvSpPr>
        <p:spPr>
          <a:xfrm>
            <a:off x="548640" y="4480560"/>
            <a:ext cx="10515600" cy="822960"/>
          </a:xfrm>
          <a:prstGeom prst="rect">
            <a:avLst/>
          </a:prstGeom>
          <a:noFill/>
          <a:ln/>
        </p:spPr>
        <p:txBody>
          <a:bodyPr wrap="square" rtlCol="0" anchor="ctr"/>
          <a:lstStyle/>
          <a:p>
            <a:pPr indent="0" marL="0">
              <a:buNone/>
            </a:pPr>
            <a:r>
              <a:rPr lang="en-US" sz="1800" dirty="0">
                <a:solidFill>
                  <a:srgbClr val="C7D8EC"/>
                </a:solidFill>
                <a:latin typeface="Calibri" pitchFamily="34" charset="0"/>
                <a:ea typeface="Calibri" pitchFamily="34" charset="-122"/>
                <a:cs typeface="Calibri" pitchFamily="34" charset="-120"/>
              </a:rPr>
              <a:t>De 528 883 lignes brutes à un modèle XGBoost déployé — un pipeline complet ETL → Data Warehouse → BI → Machine Learning → Web App.</a:t>
            </a:r>
            <a:endParaRPr lang="en-US" sz="1800" dirty="0"/>
          </a:p>
        </p:txBody>
      </p:sp>
      <p:sp>
        <p:nvSpPr>
          <p:cNvPr id="12" name="Shape 10"/>
          <p:cNvSpPr/>
          <p:nvPr/>
        </p:nvSpPr>
        <p:spPr>
          <a:xfrm>
            <a:off x="548640" y="5532120"/>
            <a:ext cx="11094415" cy="0"/>
          </a:xfrm>
          <a:prstGeom prst="line">
            <a:avLst/>
          </a:prstGeom>
          <a:noFill/>
          <a:ln w="12700">
            <a:solidFill>
              <a:srgbClr val="1E5A8F"/>
            </a:solidFill>
            <a:prstDash val="solid"/>
          </a:ln>
        </p:spPr>
      </p:sp>
      <p:sp>
        <p:nvSpPr>
          <p:cNvPr id="13" name="Text 11"/>
          <p:cNvSpPr/>
          <p:nvPr/>
        </p:nvSpPr>
        <p:spPr>
          <a:xfrm>
            <a:off x="548640" y="5669280"/>
            <a:ext cx="2743200" cy="274320"/>
          </a:xfrm>
          <a:prstGeom prst="rect">
            <a:avLst/>
          </a:prstGeom>
          <a:noFill/>
          <a:ln/>
        </p:spPr>
        <p:txBody>
          <a:bodyPr wrap="square" rtlCol="0" anchor="ctr"/>
          <a:lstStyle/>
          <a:p>
            <a:pPr indent="0" marL="0">
              <a:buNone/>
            </a:pPr>
            <a:r>
              <a:rPr lang="en-US" sz="1000" b="1" spc="500" kern="0" dirty="0">
                <a:solidFill>
                  <a:srgbClr val="8FB8E0"/>
                </a:solidFill>
                <a:latin typeface="Calibri" pitchFamily="34" charset="0"/>
                <a:ea typeface="Calibri" pitchFamily="34" charset="-122"/>
                <a:cs typeface="Calibri" pitchFamily="34" charset="-120"/>
              </a:rPr>
              <a:t>ÉQUIPE</a:t>
            </a:r>
            <a:endParaRPr lang="en-US" sz="1000" dirty="0"/>
          </a:p>
        </p:txBody>
      </p:sp>
      <p:sp>
        <p:nvSpPr>
          <p:cNvPr id="14" name="Text 12"/>
          <p:cNvSpPr/>
          <p:nvPr/>
        </p:nvSpPr>
        <p:spPr>
          <a:xfrm>
            <a:off x="548640" y="5943600"/>
            <a:ext cx="6400800" cy="8229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Feres Messedi · Eya Bhrouni · Hamza Bouguerra</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Aïcha Soltani · Sahar Khalfellaoui</a:t>
            </a:r>
            <a:endParaRPr lang="en-US" sz="1400" dirty="0"/>
          </a:p>
        </p:txBody>
      </p:sp>
      <p:sp>
        <p:nvSpPr>
          <p:cNvPr id="15" name="Text 13"/>
          <p:cNvSpPr/>
          <p:nvPr/>
        </p:nvSpPr>
        <p:spPr>
          <a:xfrm>
            <a:off x="8229600" y="5669280"/>
            <a:ext cx="3200400" cy="274320"/>
          </a:xfrm>
          <a:prstGeom prst="rect">
            <a:avLst/>
          </a:prstGeom>
          <a:noFill/>
          <a:ln/>
        </p:spPr>
        <p:txBody>
          <a:bodyPr wrap="square" rtlCol="0" anchor="ctr"/>
          <a:lstStyle/>
          <a:p>
            <a:pPr algn="r" indent="0" marL="0">
              <a:buNone/>
            </a:pPr>
            <a:r>
              <a:rPr lang="en-US" sz="1000" b="1" spc="500" kern="0" dirty="0">
                <a:solidFill>
                  <a:srgbClr val="8FB8E0"/>
                </a:solidFill>
                <a:latin typeface="Calibri" pitchFamily="34" charset="0"/>
                <a:ea typeface="Calibri" pitchFamily="34" charset="-122"/>
                <a:cs typeface="Calibri" pitchFamily="34" charset="-120"/>
              </a:rPr>
              <a:t>ENCADRANT</a:t>
            </a:r>
            <a:endParaRPr lang="en-US" sz="1000" dirty="0"/>
          </a:p>
        </p:txBody>
      </p:sp>
      <p:sp>
        <p:nvSpPr>
          <p:cNvPr id="16" name="Text 14"/>
          <p:cNvSpPr/>
          <p:nvPr/>
        </p:nvSpPr>
        <p:spPr>
          <a:xfrm>
            <a:off x="8229600" y="5943600"/>
            <a:ext cx="3383280" cy="320040"/>
          </a:xfrm>
          <a:prstGeom prst="rect">
            <a:avLst/>
          </a:prstGeom>
          <a:noFill/>
          <a:ln/>
        </p:spPr>
        <p:txBody>
          <a:bodyPr wrap="square"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M. Aymen Ben Brik</a:t>
            </a:r>
            <a:endParaRPr lang="en-US" sz="1400" dirty="0"/>
          </a:p>
        </p:txBody>
      </p:sp>
      <p:sp>
        <p:nvSpPr>
          <p:cNvPr id="17" name="Text 15"/>
          <p:cNvSpPr/>
          <p:nvPr/>
        </p:nvSpPr>
        <p:spPr>
          <a:xfrm>
            <a:off x="8229600" y="6263640"/>
            <a:ext cx="3383280" cy="320040"/>
          </a:xfrm>
          <a:prstGeom prst="rect">
            <a:avLst/>
          </a:prstGeom>
          <a:noFill/>
          <a:ln/>
        </p:spPr>
        <p:txBody>
          <a:bodyPr wrap="square" rtlCol="0" anchor="ctr"/>
          <a:lstStyle/>
          <a:p>
            <a:pPr algn="r" indent="0" marL="0">
              <a:buNone/>
            </a:pPr>
            <a:r>
              <a:rPr lang="en-US" sz="1200" dirty="0">
                <a:solidFill>
                  <a:srgbClr val="C7D8EC"/>
                </a:solidFill>
                <a:latin typeface="Calibri" pitchFamily="34" charset="0"/>
                <a:ea typeface="Calibri" pitchFamily="34" charset="-122"/>
                <a:cs typeface="Calibri" pitchFamily="34" charset="-120"/>
              </a:rPr>
              <a:t>Juillet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Contexte</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02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POURQUOI CE PROJET</a:t>
            </a:r>
            <a:endParaRPr lang="en-US" sz="1100" dirty="0"/>
          </a:p>
        </p:txBody>
      </p:sp>
      <p:sp>
        <p:nvSpPr>
          <p:cNvPr id="10" name="Text 8"/>
          <p:cNvSpPr/>
          <p:nvPr/>
        </p:nvSpPr>
        <p:spPr>
          <a:xfrm>
            <a:off x="457200" y="1371600"/>
            <a:ext cx="109728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Retenir coûte moins cher qu'acquérir.</a:t>
            </a:r>
            <a:endParaRPr lang="en-US" sz="3600" dirty="0"/>
          </a:p>
        </p:txBody>
      </p:sp>
      <p:sp>
        <p:nvSpPr>
          <p:cNvPr id="11" name="Text 9"/>
          <p:cNvSpPr/>
          <p:nvPr/>
        </p:nvSpPr>
        <p:spPr>
          <a:xfrm>
            <a:off x="457200" y="2286000"/>
            <a:ext cx="10058400" cy="731520"/>
          </a:xfrm>
          <a:prstGeom prst="rect">
            <a:avLst/>
          </a:prstGeom>
          <a:noFill/>
          <a:ln/>
        </p:spPr>
        <p:txBody>
          <a:bodyPr wrap="square" rtlCol="0" anchor="ctr"/>
          <a:lstStyle/>
          <a:p>
            <a:pPr indent="0" marL="0">
              <a:buNone/>
            </a:pPr>
            <a:r>
              <a:rPr lang="en-US" sz="1800" dirty="0">
                <a:solidFill>
                  <a:srgbClr val="4A5568"/>
                </a:solidFill>
                <a:latin typeface="Calibri" pitchFamily="34" charset="0"/>
                <a:ea typeface="Calibri" pitchFamily="34" charset="-122"/>
                <a:cs typeface="Calibri" pitchFamily="34" charset="-120"/>
              </a:rPr>
              <a:t>Anticiper le départ d'un client bancaire = intervenir avant la clôture, au bon moment, avec le bon geste commercial.</a:t>
            </a:r>
            <a:endParaRPr lang="en-US" sz="1800" dirty="0"/>
          </a:p>
        </p:txBody>
      </p:sp>
      <p:sp>
        <p:nvSpPr>
          <p:cNvPr id="12" name="Shape 10"/>
          <p:cNvSpPr/>
          <p:nvPr/>
        </p:nvSpPr>
        <p:spPr>
          <a:xfrm>
            <a:off x="457200" y="3291840"/>
            <a:ext cx="3576218" cy="1828800"/>
          </a:xfrm>
          <a:prstGeom prst="roundRect">
            <a:avLst>
              <a:gd name="adj" fmla="val 6000"/>
            </a:avLst>
          </a:prstGeom>
          <a:solidFill>
            <a:srgbClr val="FFFFFF"/>
          </a:solidFill>
          <a:ln w="12700">
            <a:solidFill>
              <a:srgbClr val="E2E8F0"/>
            </a:solidFill>
            <a:prstDash val="solid"/>
          </a:ln>
        </p:spPr>
      </p:sp>
      <p:sp>
        <p:nvSpPr>
          <p:cNvPr id="13" name="Text 11"/>
          <p:cNvSpPr/>
          <p:nvPr/>
        </p:nvSpPr>
        <p:spPr>
          <a:xfrm>
            <a:off x="685800" y="3520440"/>
            <a:ext cx="3119018" cy="1005840"/>
          </a:xfrm>
          <a:prstGeom prst="rect">
            <a:avLst/>
          </a:prstGeom>
          <a:noFill/>
          <a:ln/>
        </p:spPr>
        <p:txBody>
          <a:bodyPr wrap="square" rtlCol="0" anchor="ctr"/>
          <a:lstStyle/>
          <a:p>
            <a:pPr indent="0" marL="0">
              <a:buNone/>
            </a:pPr>
            <a:r>
              <a:rPr lang="en-US" sz="4400" b="1" dirty="0">
                <a:solidFill>
                  <a:srgbClr val="C8102E"/>
                </a:solidFill>
                <a:latin typeface="Calibri" pitchFamily="34" charset="0"/>
                <a:ea typeface="Calibri" pitchFamily="34" charset="-122"/>
                <a:cs typeface="Calibri" pitchFamily="34" charset="-120"/>
              </a:rPr>
              <a:t>5–7×</a:t>
            </a:r>
            <a:endParaRPr lang="en-US" sz="4400" dirty="0"/>
          </a:p>
        </p:txBody>
      </p:sp>
      <p:sp>
        <p:nvSpPr>
          <p:cNvPr id="14" name="Text 12"/>
          <p:cNvSpPr/>
          <p:nvPr/>
        </p:nvSpPr>
        <p:spPr>
          <a:xfrm>
            <a:off x="685800" y="44348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Coût d'acquisition vs. rétention d'un client</a:t>
            </a:r>
            <a:endParaRPr lang="en-US" sz="1200" dirty="0"/>
          </a:p>
        </p:txBody>
      </p:sp>
      <p:sp>
        <p:nvSpPr>
          <p:cNvPr id="15" name="Shape 13"/>
          <p:cNvSpPr/>
          <p:nvPr/>
        </p:nvSpPr>
        <p:spPr>
          <a:xfrm>
            <a:off x="4307738" y="3291840"/>
            <a:ext cx="3576218" cy="1828800"/>
          </a:xfrm>
          <a:prstGeom prst="roundRect">
            <a:avLst>
              <a:gd name="adj" fmla="val 6000"/>
            </a:avLst>
          </a:prstGeom>
          <a:solidFill>
            <a:srgbClr val="FFFFFF"/>
          </a:solidFill>
          <a:ln w="12700">
            <a:solidFill>
              <a:srgbClr val="E2E8F0"/>
            </a:solidFill>
            <a:prstDash val="solid"/>
          </a:ln>
        </p:spPr>
      </p:sp>
      <p:sp>
        <p:nvSpPr>
          <p:cNvPr id="16" name="Text 14"/>
          <p:cNvSpPr/>
          <p:nvPr/>
        </p:nvSpPr>
        <p:spPr>
          <a:xfrm>
            <a:off x="4536338" y="3520440"/>
            <a:ext cx="3119018" cy="1005840"/>
          </a:xfrm>
          <a:prstGeom prst="rect">
            <a:avLst/>
          </a:prstGeom>
          <a:noFill/>
          <a:ln/>
        </p:spPr>
        <p:txBody>
          <a:bodyPr wrap="square" rtlCol="0" anchor="ctr"/>
          <a:lstStyle/>
          <a:p>
            <a:pPr indent="0" marL="0">
              <a:buNone/>
            </a:pPr>
            <a:r>
              <a:rPr lang="en-US" sz="4400" b="1" dirty="0">
                <a:solidFill>
                  <a:srgbClr val="0B5394"/>
                </a:solidFill>
                <a:latin typeface="Calibri" pitchFamily="34" charset="0"/>
                <a:ea typeface="Calibri" pitchFamily="34" charset="-122"/>
                <a:cs typeface="Calibri" pitchFamily="34" charset="-120"/>
              </a:rPr>
              <a:t>36,1%</a:t>
            </a:r>
            <a:endParaRPr lang="en-US" sz="4400" dirty="0"/>
          </a:p>
        </p:txBody>
      </p:sp>
      <p:sp>
        <p:nvSpPr>
          <p:cNvPr id="17" name="Text 15"/>
          <p:cNvSpPr/>
          <p:nvPr/>
        </p:nvSpPr>
        <p:spPr>
          <a:xfrm>
            <a:off x="4536338" y="44348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Taux de churn observé au grain compte</a:t>
            </a:r>
            <a:endParaRPr lang="en-US" sz="1200" dirty="0"/>
          </a:p>
        </p:txBody>
      </p:sp>
      <p:sp>
        <p:nvSpPr>
          <p:cNvPr id="18" name="Shape 16"/>
          <p:cNvSpPr/>
          <p:nvPr/>
        </p:nvSpPr>
        <p:spPr>
          <a:xfrm>
            <a:off x="8158277" y="3291840"/>
            <a:ext cx="3576218" cy="1828800"/>
          </a:xfrm>
          <a:prstGeom prst="roundRect">
            <a:avLst>
              <a:gd name="adj" fmla="val 6000"/>
            </a:avLst>
          </a:prstGeom>
          <a:solidFill>
            <a:srgbClr val="FFFFFF"/>
          </a:solidFill>
          <a:ln w="12700">
            <a:solidFill>
              <a:srgbClr val="E2E8F0"/>
            </a:solidFill>
            <a:prstDash val="solid"/>
          </a:ln>
        </p:spPr>
      </p:sp>
      <p:sp>
        <p:nvSpPr>
          <p:cNvPr id="19" name="Text 17"/>
          <p:cNvSpPr/>
          <p:nvPr/>
        </p:nvSpPr>
        <p:spPr>
          <a:xfrm>
            <a:off x="8386877" y="3520440"/>
            <a:ext cx="3119018" cy="1005840"/>
          </a:xfrm>
          <a:prstGeom prst="rect">
            <a:avLst/>
          </a:prstGeom>
          <a:noFill/>
          <a:ln/>
        </p:spPr>
        <p:txBody>
          <a:bodyPr wrap="square" rtlCol="0" anchor="ctr"/>
          <a:lstStyle/>
          <a:p>
            <a:pPr indent="0" marL="0">
              <a:buNone/>
            </a:pPr>
            <a:r>
              <a:rPr lang="en-US" sz="4400" b="1" dirty="0">
                <a:solidFill>
                  <a:srgbClr val="0B5394"/>
                </a:solidFill>
                <a:latin typeface="Calibri" pitchFamily="34" charset="0"/>
                <a:ea typeface="Calibri" pitchFamily="34" charset="-122"/>
                <a:cs typeface="Calibri" pitchFamily="34" charset="-120"/>
              </a:rPr>
              <a:t>6</a:t>
            </a:r>
            <a:endParaRPr lang="en-US" sz="4400" dirty="0"/>
          </a:p>
        </p:txBody>
      </p:sp>
      <p:sp>
        <p:nvSpPr>
          <p:cNvPr id="20" name="Text 18"/>
          <p:cNvSpPr/>
          <p:nvPr/>
        </p:nvSpPr>
        <p:spPr>
          <a:xfrm>
            <a:off x="8386877" y="44348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Objectifs enchaînés dans un pipeline unique</a:t>
            </a:r>
            <a:endParaRPr lang="en-US" sz="1200" dirty="0"/>
          </a:p>
        </p:txBody>
      </p:sp>
      <p:sp>
        <p:nvSpPr>
          <p:cNvPr id="21" name="Shape 19"/>
          <p:cNvSpPr/>
          <p:nvPr/>
        </p:nvSpPr>
        <p:spPr>
          <a:xfrm>
            <a:off x="457200" y="5623560"/>
            <a:ext cx="832104" cy="365760"/>
          </a:xfrm>
          <a:prstGeom prst="roundRect">
            <a:avLst>
              <a:gd name="adj" fmla="val 50000"/>
            </a:avLst>
          </a:prstGeom>
          <a:solidFill>
            <a:srgbClr val="0B5394"/>
          </a:solidFill>
          <a:ln w="12700">
            <a:solidFill>
              <a:srgbClr val="0B5394"/>
            </a:solidFill>
            <a:prstDash val="solid"/>
          </a:ln>
        </p:spPr>
      </p:sp>
      <p:sp>
        <p:nvSpPr>
          <p:cNvPr id="22" name="Text 20"/>
          <p:cNvSpPr/>
          <p:nvPr/>
        </p:nvSpPr>
        <p:spPr>
          <a:xfrm>
            <a:off x="457200" y="5623560"/>
            <a:ext cx="832104"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EDA</a:t>
            </a:r>
            <a:endParaRPr lang="en-US" sz="1100" dirty="0"/>
          </a:p>
        </p:txBody>
      </p:sp>
      <p:sp>
        <p:nvSpPr>
          <p:cNvPr id="23" name="Shape 21"/>
          <p:cNvSpPr/>
          <p:nvPr/>
        </p:nvSpPr>
        <p:spPr>
          <a:xfrm>
            <a:off x="1426464" y="5623560"/>
            <a:ext cx="832104" cy="365760"/>
          </a:xfrm>
          <a:prstGeom prst="roundRect">
            <a:avLst>
              <a:gd name="adj" fmla="val 50000"/>
            </a:avLst>
          </a:prstGeom>
          <a:solidFill>
            <a:srgbClr val="0B5394"/>
          </a:solidFill>
          <a:ln w="12700">
            <a:solidFill>
              <a:srgbClr val="0B5394"/>
            </a:solidFill>
            <a:prstDash val="solid"/>
          </a:ln>
        </p:spPr>
      </p:sp>
      <p:sp>
        <p:nvSpPr>
          <p:cNvPr id="24" name="Text 22"/>
          <p:cNvSpPr/>
          <p:nvPr/>
        </p:nvSpPr>
        <p:spPr>
          <a:xfrm>
            <a:off x="1426464" y="5623560"/>
            <a:ext cx="832104"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ETL</a:t>
            </a:r>
            <a:endParaRPr lang="en-US" sz="1100" dirty="0"/>
          </a:p>
        </p:txBody>
      </p:sp>
      <p:sp>
        <p:nvSpPr>
          <p:cNvPr id="25" name="Shape 23"/>
          <p:cNvSpPr/>
          <p:nvPr/>
        </p:nvSpPr>
        <p:spPr>
          <a:xfrm>
            <a:off x="2395728" y="5623560"/>
            <a:ext cx="1938528" cy="365760"/>
          </a:xfrm>
          <a:prstGeom prst="roundRect">
            <a:avLst>
              <a:gd name="adj" fmla="val 50000"/>
            </a:avLst>
          </a:prstGeom>
          <a:solidFill>
            <a:srgbClr val="0B5394"/>
          </a:solidFill>
          <a:ln w="12700">
            <a:solidFill>
              <a:srgbClr val="0B5394"/>
            </a:solidFill>
            <a:prstDash val="solid"/>
          </a:ln>
        </p:spPr>
      </p:sp>
      <p:sp>
        <p:nvSpPr>
          <p:cNvPr id="26" name="Text 24"/>
          <p:cNvSpPr/>
          <p:nvPr/>
        </p:nvSpPr>
        <p:spPr>
          <a:xfrm>
            <a:off x="2395728" y="5623560"/>
            <a:ext cx="1938528"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Data Warehouse</a:t>
            </a:r>
            <a:endParaRPr lang="en-US" sz="1100" dirty="0"/>
          </a:p>
        </p:txBody>
      </p:sp>
      <p:sp>
        <p:nvSpPr>
          <p:cNvPr id="27" name="Shape 25"/>
          <p:cNvSpPr/>
          <p:nvPr/>
        </p:nvSpPr>
        <p:spPr>
          <a:xfrm>
            <a:off x="4471416" y="5623560"/>
            <a:ext cx="1335024" cy="365760"/>
          </a:xfrm>
          <a:prstGeom prst="roundRect">
            <a:avLst>
              <a:gd name="adj" fmla="val 50000"/>
            </a:avLst>
          </a:prstGeom>
          <a:solidFill>
            <a:srgbClr val="0B5394"/>
          </a:solidFill>
          <a:ln w="12700">
            <a:solidFill>
              <a:srgbClr val="0B5394"/>
            </a:solidFill>
            <a:prstDash val="solid"/>
          </a:ln>
        </p:spPr>
      </p:sp>
      <p:sp>
        <p:nvSpPr>
          <p:cNvPr id="28" name="Text 26"/>
          <p:cNvSpPr/>
          <p:nvPr/>
        </p:nvSpPr>
        <p:spPr>
          <a:xfrm>
            <a:off x="4471416" y="5623560"/>
            <a:ext cx="1335024"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Power BI</a:t>
            </a:r>
            <a:endParaRPr lang="en-US" sz="1100" dirty="0"/>
          </a:p>
        </p:txBody>
      </p:sp>
      <p:sp>
        <p:nvSpPr>
          <p:cNvPr id="29" name="Shape 27"/>
          <p:cNvSpPr/>
          <p:nvPr/>
        </p:nvSpPr>
        <p:spPr>
          <a:xfrm>
            <a:off x="5943600" y="5623560"/>
            <a:ext cx="2139696" cy="365760"/>
          </a:xfrm>
          <a:prstGeom prst="roundRect">
            <a:avLst>
              <a:gd name="adj" fmla="val 50000"/>
            </a:avLst>
          </a:prstGeom>
          <a:solidFill>
            <a:srgbClr val="0B5394"/>
          </a:solidFill>
          <a:ln w="12700">
            <a:solidFill>
              <a:srgbClr val="0B5394"/>
            </a:solidFill>
            <a:prstDash val="solid"/>
          </a:ln>
        </p:spPr>
      </p:sp>
      <p:sp>
        <p:nvSpPr>
          <p:cNvPr id="30" name="Text 28"/>
          <p:cNvSpPr/>
          <p:nvPr/>
        </p:nvSpPr>
        <p:spPr>
          <a:xfrm>
            <a:off x="5943600" y="5623560"/>
            <a:ext cx="2139696"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Machine Learning</a:t>
            </a:r>
            <a:endParaRPr lang="en-US" sz="1100" dirty="0"/>
          </a:p>
        </p:txBody>
      </p:sp>
      <p:sp>
        <p:nvSpPr>
          <p:cNvPr id="31" name="Shape 29"/>
          <p:cNvSpPr/>
          <p:nvPr/>
        </p:nvSpPr>
        <p:spPr>
          <a:xfrm>
            <a:off x="8220456" y="5623560"/>
            <a:ext cx="2542032" cy="365760"/>
          </a:xfrm>
          <a:prstGeom prst="roundRect">
            <a:avLst>
              <a:gd name="adj" fmla="val 50000"/>
            </a:avLst>
          </a:prstGeom>
          <a:solidFill>
            <a:srgbClr val="0B5394"/>
          </a:solidFill>
          <a:ln w="12700">
            <a:solidFill>
              <a:srgbClr val="0B5394"/>
            </a:solidFill>
            <a:prstDash val="solid"/>
          </a:ln>
        </p:spPr>
      </p:sp>
      <p:sp>
        <p:nvSpPr>
          <p:cNvPr id="32" name="Text 30"/>
          <p:cNvSpPr/>
          <p:nvPr/>
        </p:nvSpPr>
        <p:spPr>
          <a:xfrm>
            <a:off x="8220456" y="5623560"/>
            <a:ext cx="2542032"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Datamining &amp; Web App</a:t>
            </a:r>
            <a:endParaRPr lang="en-US" sz="1100" dirty="0"/>
          </a:p>
        </p:txBody>
      </p:sp>
      <p:sp>
        <p:nvSpPr>
          <p:cNvPr id="33" name="Text 31"/>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4" name="Text 32"/>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Données</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03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VOLUMÉTRIE</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Du brut au propre.</a:t>
            </a:r>
            <a:endParaRPr lang="en-US" sz="3600" dirty="0"/>
          </a:p>
        </p:txBody>
      </p:sp>
      <p:sp>
        <p:nvSpPr>
          <p:cNvPr id="11" name="Shape 9"/>
          <p:cNvSpPr/>
          <p:nvPr/>
        </p:nvSpPr>
        <p:spPr>
          <a:xfrm>
            <a:off x="457200" y="2560320"/>
            <a:ext cx="5029200" cy="1691640"/>
          </a:xfrm>
          <a:prstGeom prst="roundRect">
            <a:avLst>
              <a:gd name="adj" fmla="val 6486"/>
            </a:avLst>
          </a:prstGeom>
          <a:solidFill>
            <a:srgbClr val="FFFFFF"/>
          </a:solidFill>
          <a:ln w="12700">
            <a:solidFill>
              <a:srgbClr val="E2E8F0"/>
            </a:solidFill>
            <a:prstDash val="solid"/>
          </a:ln>
        </p:spPr>
      </p:sp>
      <p:sp>
        <p:nvSpPr>
          <p:cNvPr id="12" name="Text 10"/>
          <p:cNvSpPr/>
          <p:nvPr/>
        </p:nvSpPr>
        <p:spPr>
          <a:xfrm>
            <a:off x="685800" y="2743200"/>
            <a:ext cx="4572000" cy="274320"/>
          </a:xfrm>
          <a:prstGeom prst="rect">
            <a:avLst/>
          </a:prstGeom>
          <a:noFill/>
          <a:ln/>
        </p:spPr>
        <p:txBody>
          <a:bodyPr wrap="square" rtlCol="0" anchor="ctr"/>
          <a:lstStyle/>
          <a:p>
            <a:pPr indent="0" marL="0">
              <a:buNone/>
            </a:pPr>
            <a:r>
              <a:rPr lang="en-US" sz="1000" b="1" spc="300" kern="0" dirty="0">
                <a:solidFill>
                  <a:srgbClr val="073763"/>
                </a:solidFill>
                <a:latin typeface="Calibri" pitchFamily="34" charset="0"/>
                <a:ea typeface="Calibri" pitchFamily="34" charset="-122"/>
                <a:cs typeface="Calibri" pitchFamily="34" charset="-120"/>
              </a:rPr>
              <a:t>DONNÉES BRUTES</a:t>
            </a:r>
            <a:endParaRPr lang="en-US" sz="1000" dirty="0"/>
          </a:p>
        </p:txBody>
      </p:sp>
      <p:sp>
        <p:nvSpPr>
          <p:cNvPr id="13" name="Text 11"/>
          <p:cNvSpPr/>
          <p:nvPr/>
        </p:nvSpPr>
        <p:spPr>
          <a:xfrm>
            <a:off x="685800" y="3063240"/>
            <a:ext cx="4572000" cy="930402"/>
          </a:xfrm>
          <a:prstGeom prst="rect">
            <a:avLst/>
          </a:prstGeom>
          <a:noFill/>
          <a:ln/>
        </p:spPr>
        <p:txBody>
          <a:bodyPr wrap="square" rtlCol="0" anchor="ctr"/>
          <a:lstStyle/>
          <a:p>
            <a:pPr indent="0" marL="0">
              <a:buNone/>
            </a:pPr>
            <a:r>
              <a:rPr lang="en-US" sz="3600" b="1" dirty="0">
                <a:solidFill>
                  <a:srgbClr val="0B5394"/>
                </a:solidFill>
                <a:latin typeface="Calibri" pitchFamily="34" charset="0"/>
                <a:ea typeface="Calibri" pitchFamily="34" charset="-122"/>
                <a:cs typeface="Calibri" pitchFamily="34" charset="-120"/>
              </a:rPr>
              <a:t>528 883</a:t>
            </a:r>
            <a:endParaRPr lang="en-US" sz="3600" dirty="0"/>
          </a:p>
        </p:txBody>
      </p:sp>
      <p:sp>
        <p:nvSpPr>
          <p:cNvPr id="14" name="Text 12"/>
          <p:cNvSpPr/>
          <p:nvPr/>
        </p:nvSpPr>
        <p:spPr>
          <a:xfrm>
            <a:off x="685800" y="3566160"/>
            <a:ext cx="4572000"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lignes · 34 colonnes</a:t>
            </a:r>
            <a:endParaRPr lang="en-US" sz="1200" dirty="0"/>
          </a:p>
        </p:txBody>
      </p:sp>
      <p:sp>
        <p:nvSpPr>
          <p:cNvPr id="15" name="Shape 13"/>
          <p:cNvSpPr/>
          <p:nvPr/>
        </p:nvSpPr>
        <p:spPr>
          <a:xfrm>
            <a:off x="457200" y="4343400"/>
            <a:ext cx="5029200" cy="1691640"/>
          </a:xfrm>
          <a:prstGeom prst="roundRect">
            <a:avLst>
              <a:gd name="adj" fmla="val 6486"/>
            </a:avLst>
          </a:prstGeom>
          <a:solidFill>
            <a:srgbClr val="E8EEF6"/>
          </a:solidFill>
          <a:ln/>
        </p:spPr>
      </p:sp>
      <p:sp>
        <p:nvSpPr>
          <p:cNvPr id="16" name="Text 14"/>
          <p:cNvSpPr/>
          <p:nvPr/>
        </p:nvSpPr>
        <p:spPr>
          <a:xfrm>
            <a:off x="685800" y="4526280"/>
            <a:ext cx="4572000" cy="274320"/>
          </a:xfrm>
          <a:prstGeom prst="rect">
            <a:avLst/>
          </a:prstGeom>
          <a:noFill/>
          <a:ln/>
        </p:spPr>
        <p:txBody>
          <a:bodyPr wrap="square" rtlCol="0" anchor="ctr"/>
          <a:lstStyle/>
          <a:p>
            <a:pPr indent="0" marL="0">
              <a:buNone/>
            </a:pPr>
            <a:r>
              <a:rPr lang="en-US" sz="1000" b="1" spc="300" kern="0" dirty="0">
                <a:solidFill>
                  <a:srgbClr val="073763"/>
                </a:solidFill>
                <a:latin typeface="Calibri" pitchFamily="34" charset="0"/>
                <a:ea typeface="Calibri" pitchFamily="34" charset="-122"/>
                <a:cs typeface="Calibri" pitchFamily="34" charset="-120"/>
              </a:rPr>
              <a:t>APRÈS NETTOYAGE</a:t>
            </a:r>
            <a:endParaRPr lang="en-US" sz="1000" dirty="0"/>
          </a:p>
        </p:txBody>
      </p:sp>
      <p:sp>
        <p:nvSpPr>
          <p:cNvPr id="17" name="Text 15"/>
          <p:cNvSpPr/>
          <p:nvPr/>
        </p:nvSpPr>
        <p:spPr>
          <a:xfrm>
            <a:off x="685800" y="4846320"/>
            <a:ext cx="4572000" cy="930402"/>
          </a:xfrm>
          <a:prstGeom prst="rect">
            <a:avLst/>
          </a:prstGeom>
          <a:noFill/>
          <a:ln/>
        </p:spPr>
        <p:txBody>
          <a:bodyPr wrap="square" rtlCol="0" anchor="ctr"/>
          <a:lstStyle/>
          <a:p>
            <a:pPr indent="0" marL="0">
              <a:buNone/>
            </a:pPr>
            <a:r>
              <a:rPr lang="en-US" sz="3600" b="1" dirty="0">
                <a:solidFill>
                  <a:srgbClr val="0B5394"/>
                </a:solidFill>
                <a:latin typeface="Calibri" pitchFamily="34" charset="0"/>
                <a:ea typeface="Calibri" pitchFamily="34" charset="-122"/>
                <a:cs typeface="Calibri" pitchFamily="34" charset="-120"/>
              </a:rPr>
              <a:t>445 803</a:t>
            </a:r>
            <a:endParaRPr lang="en-US" sz="3600" dirty="0"/>
          </a:p>
        </p:txBody>
      </p:sp>
      <p:sp>
        <p:nvSpPr>
          <p:cNvPr id="18" name="Text 16"/>
          <p:cNvSpPr/>
          <p:nvPr/>
        </p:nvSpPr>
        <p:spPr>
          <a:xfrm>
            <a:off x="685800" y="5349240"/>
            <a:ext cx="4572000"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événements exploitables</a:t>
            </a:r>
            <a:endParaRPr lang="en-US" sz="1200" dirty="0"/>
          </a:p>
        </p:txBody>
      </p:sp>
      <p:sp>
        <p:nvSpPr>
          <p:cNvPr id="19" name="Text 17"/>
          <p:cNvSpPr/>
          <p:nvPr/>
        </p:nvSpPr>
        <p:spPr>
          <a:xfrm>
            <a:off x="5943600" y="2743200"/>
            <a:ext cx="3200400"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Comptes</a:t>
            </a:r>
            <a:endParaRPr lang="en-US" sz="1400" dirty="0"/>
          </a:p>
        </p:txBody>
      </p:sp>
      <p:sp>
        <p:nvSpPr>
          <p:cNvPr id="20" name="Text 18"/>
          <p:cNvSpPr/>
          <p:nvPr/>
        </p:nvSpPr>
        <p:spPr>
          <a:xfrm>
            <a:off x="9144000" y="2743200"/>
            <a:ext cx="2560320" cy="457200"/>
          </a:xfrm>
          <a:prstGeom prst="rect">
            <a:avLst/>
          </a:prstGeom>
          <a:noFill/>
          <a:ln/>
        </p:spPr>
        <p:txBody>
          <a:bodyPr wrap="square" rtlCol="0" anchor="ctr"/>
          <a:lstStyle/>
          <a:p>
            <a:pPr algn="r" indent="0" marL="0">
              <a:buNone/>
            </a:pPr>
            <a:r>
              <a:rPr lang="en-US" sz="2400" b="1" dirty="0">
                <a:solidFill>
                  <a:srgbClr val="0B5394"/>
                </a:solidFill>
                <a:latin typeface="Calibri" pitchFamily="34" charset="0"/>
                <a:ea typeface="Calibri" pitchFamily="34" charset="-122"/>
                <a:cs typeface="Calibri" pitchFamily="34" charset="-120"/>
              </a:rPr>
              <a:t>410 587</a:t>
            </a:r>
            <a:endParaRPr lang="en-US" sz="2400" dirty="0"/>
          </a:p>
        </p:txBody>
      </p:sp>
      <p:sp>
        <p:nvSpPr>
          <p:cNvPr id="21" name="Shape 19"/>
          <p:cNvSpPr/>
          <p:nvPr/>
        </p:nvSpPr>
        <p:spPr>
          <a:xfrm>
            <a:off x="5943600" y="3383280"/>
            <a:ext cx="5760720" cy="0"/>
          </a:xfrm>
          <a:prstGeom prst="line">
            <a:avLst/>
          </a:prstGeom>
          <a:noFill/>
          <a:ln w="12700">
            <a:solidFill>
              <a:srgbClr val="E2E8F0"/>
            </a:solidFill>
            <a:prstDash val="solid"/>
          </a:ln>
        </p:spPr>
      </p:sp>
      <p:sp>
        <p:nvSpPr>
          <p:cNvPr id="22" name="Text 20"/>
          <p:cNvSpPr/>
          <p:nvPr/>
        </p:nvSpPr>
        <p:spPr>
          <a:xfrm>
            <a:off x="5943600" y="3611880"/>
            <a:ext cx="3200400"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Clients uniques</a:t>
            </a:r>
            <a:endParaRPr lang="en-US" sz="1400" dirty="0"/>
          </a:p>
        </p:txBody>
      </p:sp>
      <p:sp>
        <p:nvSpPr>
          <p:cNvPr id="23" name="Text 21"/>
          <p:cNvSpPr/>
          <p:nvPr/>
        </p:nvSpPr>
        <p:spPr>
          <a:xfrm>
            <a:off x="9144000" y="3611880"/>
            <a:ext cx="2560320" cy="457200"/>
          </a:xfrm>
          <a:prstGeom prst="rect">
            <a:avLst/>
          </a:prstGeom>
          <a:noFill/>
          <a:ln/>
        </p:spPr>
        <p:txBody>
          <a:bodyPr wrap="square" rtlCol="0" anchor="ctr"/>
          <a:lstStyle/>
          <a:p>
            <a:pPr algn="r" indent="0" marL="0">
              <a:buNone/>
            </a:pPr>
            <a:r>
              <a:rPr lang="en-US" sz="2400" b="1" dirty="0">
                <a:solidFill>
                  <a:srgbClr val="0B5394"/>
                </a:solidFill>
                <a:latin typeface="Calibri" pitchFamily="34" charset="0"/>
                <a:ea typeface="Calibri" pitchFamily="34" charset="-122"/>
                <a:cs typeface="Calibri" pitchFamily="34" charset="-120"/>
              </a:rPr>
              <a:t>319 129</a:t>
            </a:r>
            <a:endParaRPr lang="en-US" sz="2400" dirty="0"/>
          </a:p>
        </p:txBody>
      </p:sp>
      <p:sp>
        <p:nvSpPr>
          <p:cNvPr id="24" name="Shape 22"/>
          <p:cNvSpPr/>
          <p:nvPr/>
        </p:nvSpPr>
        <p:spPr>
          <a:xfrm>
            <a:off x="5943600" y="4251960"/>
            <a:ext cx="5760720" cy="0"/>
          </a:xfrm>
          <a:prstGeom prst="line">
            <a:avLst/>
          </a:prstGeom>
          <a:noFill/>
          <a:ln w="12700">
            <a:solidFill>
              <a:srgbClr val="E2E8F0"/>
            </a:solidFill>
            <a:prstDash val="solid"/>
          </a:ln>
        </p:spPr>
      </p:sp>
      <p:sp>
        <p:nvSpPr>
          <p:cNvPr id="25" name="Text 23"/>
          <p:cNvSpPr/>
          <p:nvPr/>
        </p:nvSpPr>
        <p:spPr>
          <a:xfrm>
            <a:off x="5943600" y="4480560"/>
            <a:ext cx="3200400"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Agences</a:t>
            </a:r>
            <a:endParaRPr lang="en-US" sz="1400" dirty="0"/>
          </a:p>
        </p:txBody>
      </p:sp>
      <p:sp>
        <p:nvSpPr>
          <p:cNvPr id="26" name="Text 24"/>
          <p:cNvSpPr/>
          <p:nvPr/>
        </p:nvSpPr>
        <p:spPr>
          <a:xfrm>
            <a:off x="9144000" y="4480560"/>
            <a:ext cx="2560320" cy="457200"/>
          </a:xfrm>
          <a:prstGeom prst="rect">
            <a:avLst/>
          </a:prstGeom>
          <a:noFill/>
          <a:ln/>
        </p:spPr>
        <p:txBody>
          <a:bodyPr wrap="square" rtlCol="0" anchor="ctr"/>
          <a:lstStyle/>
          <a:p>
            <a:pPr algn="r" indent="0" marL="0">
              <a:buNone/>
            </a:pPr>
            <a:r>
              <a:rPr lang="en-US" sz="2400" b="1" dirty="0">
                <a:solidFill>
                  <a:srgbClr val="0B5394"/>
                </a:solidFill>
                <a:latin typeface="Calibri" pitchFamily="34" charset="0"/>
                <a:ea typeface="Calibri" pitchFamily="34" charset="-122"/>
                <a:cs typeface="Calibri" pitchFamily="34" charset="-120"/>
              </a:rPr>
              <a:t>141</a:t>
            </a:r>
            <a:endParaRPr lang="en-US" sz="2400" dirty="0"/>
          </a:p>
        </p:txBody>
      </p:sp>
      <p:sp>
        <p:nvSpPr>
          <p:cNvPr id="27" name="Shape 25"/>
          <p:cNvSpPr/>
          <p:nvPr/>
        </p:nvSpPr>
        <p:spPr>
          <a:xfrm>
            <a:off x="5943600" y="5120640"/>
            <a:ext cx="5760720" cy="0"/>
          </a:xfrm>
          <a:prstGeom prst="line">
            <a:avLst/>
          </a:prstGeom>
          <a:noFill/>
          <a:ln w="12700">
            <a:solidFill>
              <a:srgbClr val="E2E8F0"/>
            </a:solidFill>
            <a:prstDash val="solid"/>
          </a:ln>
        </p:spPr>
      </p:sp>
      <p:sp>
        <p:nvSpPr>
          <p:cNvPr id="28" name="Text 26"/>
          <p:cNvSpPr/>
          <p:nvPr/>
        </p:nvSpPr>
        <p:spPr>
          <a:xfrm>
            <a:off x="5943600" y="5349240"/>
            <a:ext cx="3200400"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Churn (compte / événement)</a:t>
            </a:r>
            <a:endParaRPr lang="en-US" sz="1400" dirty="0"/>
          </a:p>
        </p:txBody>
      </p:sp>
      <p:sp>
        <p:nvSpPr>
          <p:cNvPr id="29" name="Text 27"/>
          <p:cNvSpPr/>
          <p:nvPr/>
        </p:nvSpPr>
        <p:spPr>
          <a:xfrm>
            <a:off x="9144000" y="5349240"/>
            <a:ext cx="2560320" cy="457200"/>
          </a:xfrm>
          <a:prstGeom prst="rect">
            <a:avLst/>
          </a:prstGeom>
          <a:noFill/>
          <a:ln/>
        </p:spPr>
        <p:txBody>
          <a:bodyPr wrap="square" rtlCol="0" anchor="ctr"/>
          <a:lstStyle/>
          <a:p>
            <a:pPr algn="r" indent="0" marL="0">
              <a:buNone/>
            </a:pPr>
            <a:r>
              <a:rPr lang="en-US" sz="2400" b="1" dirty="0">
                <a:solidFill>
                  <a:srgbClr val="C8102E"/>
                </a:solidFill>
                <a:latin typeface="Calibri" pitchFamily="34" charset="0"/>
                <a:ea typeface="Calibri" pitchFamily="34" charset="-122"/>
                <a:cs typeface="Calibri" pitchFamily="34" charset="-120"/>
              </a:rPr>
              <a:t>36,1% / 41,2%</a:t>
            </a:r>
            <a:endParaRPr lang="en-US" sz="24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1" name="Text 29"/>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Architecture</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04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VUE D'ENSEMBLE</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Un pipeline en 6 étapes.</a:t>
            </a:r>
            <a:endParaRPr lang="en-US" sz="3600" dirty="0"/>
          </a:p>
        </p:txBody>
      </p:sp>
      <p:sp>
        <p:nvSpPr>
          <p:cNvPr id="11" name="Shape 9"/>
          <p:cNvSpPr/>
          <p:nvPr/>
        </p:nvSpPr>
        <p:spPr>
          <a:xfrm>
            <a:off x="457200" y="2743200"/>
            <a:ext cx="1727149" cy="2743200"/>
          </a:xfrm>
          <a:prstGeom prst="roundRect">
            <a:avLst>
              <a:gd name="adj" fmla="val 6353"/>
            </a:avLst>
          </a:prstGeom>
          <a:solidFill>
            <a:srgbClr val="FFFFFF"/>
          </a:solidFill>
          <a:ln w="12700">
            <a:solidFill>
              <a:srgbClr val="E2E8F0"/>
            </a:solidFill>
            <a:prstDash val="solid"/>
          </a:ln>
        </p:spPr>
      </p:sp>
      <p:sp>
        <p:nvSpPr>
          <p:cNvPr id="12" name="Text 10"/>
          <p:cNvSpPr/>
          <p:nvPr/>
        </p:nvSpPr>
        <p:spPr>
          <a:xfrm>
            <a:off x="640080" y="2926080"/>
            <a:ext cx="1361389"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01</a:t>
            </a:r>
            <a:endParaRPr lang="en-US" sz="1000" dirty="0"/>
          </a:p>
        </p:txBody>
      </p:sp>
      <p:sp>
        <p:nvSpPr>
          <p:cNvPr id="13" name="Text 11"/>
          <p:cNvSpPr/>
          <p:nvPr/>
        </p:nvSpPr>
        <p:spPr>
          <a:xfrm>
            <a:off x="640080" y="3291840"/>
            <a:ext cx="1361389" cy="640080"/>
          </a:xfrm>
          <a:prstGeom prst="rect">
            <a:avLst/>
          </a:prstGeom>
          <a:noFill/>
          <a:ln/>
        </p:spPr>
        <p:txBody>
          <a:bodyPr wrap="square"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Source</a:t>
            </a:r>
            <a:endParaRPr lang="en-US" sz="1500" dirty="0"/>
          </a:p>
        </p:txBody>
      </p:sp>
      <p:sp>
        <p:nvSpPr>
          <p:cNvPr id="14" name="Text 12"/>
          <p:cNvSpPr/>
          <p:nvPr/>
        </p:nvSpPr>
        <p:spPr>
          <a:xfrm>
            <a:off x="640080" y="4572000"/>
            <a:ext cx="1361389" cy="365760"/>
          </a:xfrm>
          <a:prstGeom prst="rect">
            <a:avLst/>
          </a:prstGeom>
          <a:noFill/>
          <a:ln/>
        </p:spPr>
        <p:txBody>
          <a:bodyPr wrap="square" rtlCol="0" anchor="ctr"/>
          <a:lstStyle/>
          <a:p>
            <a:pPr indent="0" marL="0">
              <a:buNone/>
            </a:pPr>
            <a:r>
              <a:rPr lang="en-US" sz="1200" b="1" dirty="0">
                <a:solidFill>
                  <a:srgbClr val="4A5568"/>
                </a:solidFill>
                <a:latin typeface="Calibri" pitchFamily="34" charset="0"/>
                <a:ea typeface="Calibri" pitchFamily="34" charset="-122"/>
                <a:cs typeface="Calibri" pitchFamily="34" charset="-120"/>
              </a:rPr>
              <a:t>CSV brut</a:t>
            </a:r>
            <a:endParaRPr lang="en-US" sz="1200" dirty="0"/>
          </a:p>
        </p:txBody>
      </p:sp>
      <p:sp>
        <p:nvSpPr>
          <p:cNvPr id="15" name="Text 13"/>
          <p:cNvSpPr/>
          <p:nvPr/>
        </p:nvSpPr>
        <p:spPr>
          <a:xfrm>
            <a:off x="640080" y="4937760"/>
            <a:ext cx="1361389" cy="36576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528K lignes</a:t>
            </a:r>
            <a:endParaRPr lang="en-US" sz="1100" dirty="0"/>
          </a:p>
        </p:txBody>
      </p:sp>
      <p:sp>
        <p:nvSpPr>
          <p:cNvPr id="16" name="Shape 14"/>
          <p:cNvSpPr/>
          <p:nvPr/>
        </p:nvSpPr>
        <p:spPr>
          <a:xfrm>
            <a:off x="2367229" y="2743200"/>
            <a:ext cx="1727149" cy="2743200"/>
          </a:xfrm>
          <a:prstGeom prst="roundRect">
            <a:avLst>
              <a:gd name="adj" fmla="val 6353"/>
            </a:avLst>
          </a:prstGeom>
          <a:solidFill>
            <a:srgbClr val="FFFFFF"/>
          </a:solidFill>
          <a:ln w="12700">
            <a:solidFill>
              <a:srgbClr val="E2E8F0"/>
            </a:solidFill>
            <a:prstDash val="solid"/>
          </a:ln>
        </p:spPr>
      </p:sp>
      <p:sp>
        <p:nvSpPr>
          <p:cNvPr id="17" name="Text 15"/>
          <p:cNvSpPr/>
          <p:nvPr/>
        </p:nvSpPr>
        <p:spPr>
          <a:xfrm>
            <a:off x="2550109" y="2926080"/>
            <a:ext cx="1361389"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02</a:t>
            </a:r>
            <a:endParaRPr lang="en-US" sz="1000" dirty="0"/>
          </a:p>
        </p:txBody>
      </p:sp>
      <p:sp>
        <p:nvSpPr>
          <p:cNvPr id="18" name="Text 16"/>
          <p:cNvSpPr/>
          <p:nvPr/>
        </p:nvSpPr>
        <p:spPr>
          <a:xfrm>
            <a:off x="2550109" y="3291840"/>
            <a:ext cx="1361389" cy="640080"/>
          </a:xfrm>
          <a:prstGeom prst="rect">
            <a:avLst/>
          </a:prstGeom>
          <a:noFill/>
          <a:ln/>
        </p:spPr>
        <p:txBody>
          <a:bodyPr wrap="square"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ETL</a:t>
            </a:r>
            <a:endParaRPr lang="en-US" sz="1500" dirty="0"/>
          </a:p>
        </p:txBody>
      </p:sp>
      <p:sp>
        <p:nvSpPr>
          <p:cNvPr id="19" name="Text 17"/>
          <p:cNvSpPr/>
          <p:nvPr/>
        </p:nvSpPr>
        <p:spPr>
          <a:xfrm>
            <a:off x="2550109" y="4572000"/>
            <a:ext cx="1361389" cy="365760"/>
          </a:xfrm>
          <a:prstGeom prst="rect">
            <a:avLst/>
          </a:prstGeom>
          <a:noFill/>
          <a:ln/>
        </p:spPr>
        <p:txBody>
          <a:bodyPr wrap="square" rtlCol="0" anchor="ctr"/>
          <a:lstStyle/>
          <a:p>
            <a:pPr indent="0" marL="0">
              <a:buNone/>
            </a:pPr>
            <a:r>
              <a:rPr lang="en-US" sz="1200" b="1" dirty="0">
                <a:solidFill>
                  <a:srgbClr val="4A5568"/>
                </a:solidFill>
                <a:latin typeface="Calibri" pitchFamily="34" charset="0"/>
                <a:ea typeface="Calibri" pitchFamily="34" charset="-122"/>
                <a:cs typeface="Calibri" pitchFamily="34" charset="-120"/>
              </a:rPr>
              <a:t>Python</a:t>
            </a:r>
            <a:endParaRPr lang="en-US" sz="1200" dirty="0"/>
          </a:p>
        </p:txBody>
      </p:sp>
      <p:sp>
        <p:nvSpPr>
          <p:cNvPr id="20" name="Text 18"/>
          <p:cNvSpPr/>
          <p:nvPr/>
        </p:nvSpPr>
        <p:spPr>
          <a:xfrm>
            <a:off x="2550109" y="4937760"/>
            <a:ext cx="1361389" cy="36576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pandas</a:t>
            </a:r>
            <a:endParaRPr lang="en-US" sz="1100" dirty="0"/>
          </a:p>
        </p:txBody>
      </p:sp>
      <p:sp>
        <p:nvSpPr>
          <p:cNvPr id="21" name="Shape 19"/>
          <p:cNvSpPr/>
          <p:nvPr/>
        </p:nvSpPr>
        <p:spPr>
          <a:xfrm>
            <a:off x="4277258" y="2743200"/>
            <a:ext cx="1727149" cy="2743200"/>
          </a:xfrm>
          <a:prstGeom prst="roundRect">
            <a:avLst>
              <a:gd name="adj" fmla="val 6353"/>
            </a:avLst>
          </a:prstGeom>
          <a:solidFill>
            <a:srgbClr val="0B5394"/>
          </a:solidFill>
          <a:ln w="12700">
            <a:solidFill>
              <a:srgbClr val="0B5394"/>
            </a:solidFill>
            <a:prstDash val="solid"/>
          </a:ln>
        </p:spPr>
      </p:sp>
      <p:sp>
        <p:nvSpPr>
          <p:cNvPr id="22" name="Text 20"/>
          <p:cNvSpPr/>
          <p:nvPr/>
        </p:nvSpPr>
        <p:spPr>
          <a:xfrm>
            <a:off x="4460138" y="2926080"/>
            <a:ext cx="1361389" cy="274320"/>
          </a:xfrm>
          <a:prstGeom prst="rect">
            <a:avLst/>
          </a:prstGeom>
          <a:noFill/>
          <a:ln/>
        </p:spPr>
        <p:txBody>
          <a:bodyPr wrap="square" rtlCol="0" anchor="ctr"/>
          <a:lstStyle/>
          <a:p>
            <a:pPr indent="0" marL="0">
              <a:buNone/>
            </a:pPr>
            <a:r>
              <a:rPr lang="en-US" sz="1000" b="1" spc="300" kern="0" dirty="0">
                <a:solidFill>
                  <a:srgbClr val="8FB8E0"/>
                </a:solidFill>
                <a:latin typeface="Calibri" pitchFamily="34" charset="0"/>
                <a:ea typeface="Calibri" pitchFamily="34" charset="-122"/>
                <a:cs typeface="Calibri" pitchFamily="34" charset="-120"/>
              </a:rPr>
              <a:t>03</a:t>
            </a:r>
            <a:endParaRPr lang="en-US" sz="1000" dirty="0"/>
          </a:p>
        </p:txBody>
      </p:sp>
      <p:sp>
        <p:nvSpPr>
          <p:cNvPr id="23" name="Text 21"/>
          <p:cNvSpPr/>
          <p:nvPr/>
        </p:nvSpPr>
        <p:spPr>
          <a:xfrm>
            <a:off x="4460138" y="3291840"/>
            <a:ext cx="1361389"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Warehouse</a:t>
            </a:r>
            <a:endParaRPr lang="en-US" sz="1500" dirty="0"/>
          </a:p>
        </p:txBody>
      </p:sp>
      <p:sp>
        <p:nvSpPr>
          <p:cNvPr id="24" name="Text 22"/>
          <p:cNvSpPr/>
          <p:nvPr/>
        </p:nvSpPr>
        <p:spPr>
          <a:xfrm>
            <a:off x="4460138" y="4572000"/>
            <a:ext cx="1361389" cy="365760"/>
          </a:xfrm>
          <a:prstGeom prst="rect">
            <a:avLst/>
          </a:prstGeom>
          <a:noFill/>
          <a:ln/>
        </p:spPr>
        <p:txBody>
          <a:bodyPr wrap="square" rtlCol="0" anchor="ctr"/>
          <a:lstStyle/>
          <a:p>
            <a:pPr indent="0" marL="0">
              <a:buNone/>
            </a:pPr>
            <a:r>
              <a:rPr lang="en-US" sz="1200" b="1" dirty="0">
                <a:solidFill>
                  <a:srgbClr val="F0F4FA"/>
                </a:solidFill>
                <a:latin typeface="Calibri" pitchFamily="34" charset="0"/>
                <a:ea typeface="Calibri" pitchFamily="34" charset="-122"/>
                <a:cs typeface="Calibri" pitchFamily="34" charset="-120"/>
              </a:rPr>
              <a:t>PostgreSQL</a:t>
            </a:r>
            <a:endParaRPr lang="en-US" sz="1200" dirty="0"/>
          </a:p>
        </p:txBody>
      </p:sp>
      <p:sp>
        <p:nvSpPr>
          <p:cNvPr id="25" name="Text 23"/>
          <p:cNvSpPr/>
          <p:nvPr/>
        </p:nvSpPr>
        <p:spPr>
          <a:xfrm>
            <a:off x="4460138" y="4937760"/>
            <a:ext cx="1361389" cy="365760"/>
          </a:xfrm>
          <a:prstGeom prst="rect">
            <a:avLst/>
          </a:prstGeom>
          <a:noFill/>
          <a:ln/>
        </p:spPr>
        <p:txBody>
          <a:bodyPr wrap="square" rtlCol="0" anchor="ctr"/>
          <a:lstStyle/>
          <a:p>
            <a:pPr indent="0" marL="0">
              <a:buNone/>
            </a:pPr>
            <a:r>
              <a:rPr lang="en-US" sz="1100" dirty="0">
                <a:solidFill>
                  <a:srgbClr val="F0F4FA"/>
                </a:solidFill>
                <a:latin typeface="Calibri" pitchFamily="34" charset="0"/>
                <a:ea typeface="Calibri" pitchFamily="34" charset="-122"/>
                <a:cs typeface="Calibri" pitchFamily="34" charset="-120"/>
              </a:rPr>
              <a:t>schéma étoile</a:t>
            </a:r>
            <a:endParaRPr lang="en-US" sz="1100" dirty="0"/>
          </a:p>
        </p:txBody>
      </p:sp>
      <p:sp>
        <p:nvSpPr>
          <p:cNvPr id="26" name="Shape 24"/>
          <p:cNvSpPr/>
          <p:nvPr/>
        </p:nvSpPr>
        <p:spPr>
          <a:xfrm>
            <a:off x="6187288" y="2743200"/>
            <a:ext cx="1727149" cy="2743200"/>
          </a:xfrm>
          <a:prstGeom prst="roundRect">
            <a:avLst>
              <a:gd name="adj" fmla="val 6353"/>
            </a:avLst>
          </a:prstGeom>
          <a:solidFill>
            <a:srgbClr val="FFFFFF"/>
          </a:solidFill>
          <a:ln w="12700">
            <a:solidFill>
              <a:srgbClr val="E2E8F0"/>
            </a:solidFill>
            <a:prstDash val="solid"/>
          </a:ln>
        </p:spPr>
      </p:sp>
      <p:sp>
        <p:nvSpPr>
          <p:cNvPr id="27" name="Text 25"/>
          <p:cNvSpPr/>
          <p:nvPr/>
        </p:nvSpPr>
        <p:spPr>
          <a:xfrm>
            <a:off x="6370168" y="2926080"/>
            <a:ext cx="1361389"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04</a:t>
            </a:r>
            <a:endParaRPr lang="en-US" sz="1000" dirty="0"/>
          </a:p>
        </p:txBody>
      </p:sp>
      <p:sp>
        <p:nvSpPr>
          <p:cNvPr id="28" name="Text 26"/>
          <p:cNvSpPr/>
          <p:nvPr/>
        </p:nvSpPr>
        <p:spPr>
          <a:xfrm>
            <a:off x="6370168" y="3291840"/>
            <a:ext cx="1361389" cy="640080"/>
          </a:xfrm>
          <a:prstGeom prst="rect">
            <a:avLst/>
          </a:prstGeom>
          <a:noFill/>
          <a:ln/>
        </p:spPr>
        <p:txBody>
          <a:bodyPr wrap="square"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BI</a:t>
            </a:r>
            <a:endParaRPr lang="en-US" sz="1500" dirty="0"/>
          </a:p>
        </p:txBody>
      </p:sp>
      <p:sp>
        <p:nvSpPr>
          <p:cNvPr id="29" name="Text 27"/>
          <p:cNvSpPr/>
          <p:nvPr/>
        </p:nvSpPr>
        <p:spPr>
          <a:xfrm>
            <a:off x="6370168" y="4572000"/>
            <a:ext cx="1361389" cy="365760"/>
          </a:xfrm>
          <a:prstGeom prst="rect">
            <a:avLst/>
          </a:prstGeom>
          <a:noFill/>
          <a:ln/>
        </p:spPr>
        <p:txBody>
          <a:bodyPr wrap="square" rtlCol="0" anchor="ctr"/>
          <a:lstStyle/>
          <a:p>
            <a:pPr indent="0" marL="0">
              <a:buNone/>
            </a:pPr>
            <a:r>
              <a:rPr lang="en-US" sz="1200" b="1" dirty="0">
                <a:solidFill>
                  <a:srgbClr val="4A5568"/>
                </a:solidFill>
                <a:latin typeface="Calibri" pitchFamily="34" charset="0"/>
                <a:ea typeface="Calibri" pitchFamily="34" charset="-122"/>
                <a:cs typeface="Calibri" pitchFamily="34" charset="-120"/>
              </a:rPr>
              <a:t>Power BI</a:t>
            </a:r>
            <a:endParaRPr lang="en-US" sz="1200" dirty="0"/>
          </a:p>
        </p:txBody>
      </p:sp>
      <p:sp>
        <p:nvSpPr>
          <p:cNvPr id="30" name="Text 28"/>
          <p:cNvSpPr/>
          <p:nvPr/>
        </p:nvSpPr>
        <p:spPr>
          <a:xfrm>
            <a:off x="6370168" y="4937760"/>
            <a:ext cx="1361389" cy="36576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dashboards</a:t>
            </a:r>
            <a:endParaRPr lang="en-US" sz="1100" dirty="0"/>
          </a:p>
        </p:txBody>
      </p:sp>
      <p:sp>
        <p:nvSpPr>
          <p:cNvPr id="31" name="Shape 29"/>
          <p:cNvSpPr/>
          <p:nvPr/>
        </p:nvSpPr>
        <p:spPr>
          <a:xfrm>
            <a:off x="8097317" y="2743200"/>
            <a:ext cx="1727149" cy="2743200"/>
          </a:xfrm>
          <a:prstGeom prst="roundRect">
            <a:avLst>
              <a:gd name="adj" fmla="val 6353"/>
            </a:avLst>
          </a:prstGeom>
          <a:solidFill>
            <a:srgbClr val="0B5394"/>
          </a:solidFill>
          <a:ln w="12700">
            <a:solidFill>
              <a:srgbClr val="0B5394"/>
            </a:solidFill>
            <a:prstDash val="solid"/>
          </a:ln>
        </p:spPr>
      </p:sp>
      <p:sp>
        <p:nvSpPr>
          <p:cNvPr id="32" name="Text 30"/>
          <p:cNvSpPr/>
          <p:nvPr/>
        </p:nvSpPr>
        <p:spPr>
          <a:xfrm>
            <a:off x="8280197" y="2926080"/>
            <a:ext cx="1361389" cy="274320"/>
          </a:xfrm>
          <a:prstGeom prst="rect">
            <a:avLst/>
          </a:prstGeom>
          <a:noFill/>
          <a:ln/>
        </p:spPr>
        <p:txBody>
          <a:bodyPr wrap="square" rtlCol="0" anchor="ctr"/>
          <a:lstStyle/>
          <a:p>
            <a:pPr indent="0" marL="0">
              <a:buNone/>
            </a:pPr>
            <a:r>
              <a:rPr lang="en-US" sz="1000" b="1" spc="300" kern="0" dirty="0">
                <a:solidFill>
                  <a:srgbClr val="8FB8E0"/>
                </a:solidFill>
                <a:latin typeface="Calibri" pitchFamily="34" charset="0"/>
                <a:ea typeface="Calibri" pitchFamily="34" charset="-122"/>
                <a:cs typeface="Calibri" pitchFamily="34" charset="-120"/>
              </a:rPr>
              <a:t>05</a:t>
            </a:r>
            <a:endParaRPr lang="en-US" sz="1000" dirty="0"/>
          </a:p>
        </p:txBody>
      </p:sp>
      <p:sp>
        <p:nvSpPr>
          <p:cNvPr id="33" name="Text 31"/>
          <p:cNvSpPr/>
          <p:nvPr/>
        </p:nvSpPr>
        <p:spPr>
          <a:xfrm>
            <a:off x="8280197" y="3291840"/>
            <a:ext cx="1361389"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ML</a:t>
            </a:r>
            <a:endParaRPr lang="en-US" sz="1500" dirty="0"/>
          </a:p>
        </p:txBody>
      </p:sp>
      <p:sp>
        <p:nvSpPr>
          <p:cNvPr id="34" name="Text 32"/>
          <p:cNvSpPr/>
          <p:nvPr/>
        </p:nvSpPr>
        <p:spPr>
          <a:xfrm>
            <a:off x="8280197" y="4572000"/>
            <a:ext cx="1361389" cy="365760"/>
          </a:xfrm>
          <a:prstGeom prst="rect">
            <a:avLst/>
          </a:prstGeom>
          <a:noFill/>
          <a:ln/>
        </p:spPr>
        <p:txBody>
          <a:bodyPr wrap="square" rtlCol="0" anchor="ctr"/>
          <a:lstStyle/>
          <a:p>
            <a:pPr indent="0" marL="0">
              <a:buNone/>
            </a:pPr>
            <a:r>
              <a:rPr lang="en-US" sz="1200" b="1" dirty="0">
                <a:solidFill>
                  <a:srgbClr val="F0F4FA"/>
                </a:solidFill>
                <a:latin typeface="Calibri" pitchFamily="34" charset="0"/>
                <a:ea typeface="Calibri" pitchFamily="34" charset="-122"/>
                <a:cs typeface="Calibri" pitchFamily="34" charset="-120"/>
              </a:rPr>
              <a:t>XGBoost</a:t>
            </a:r>
            <a:endParaRPr lang="en-US" sz="1200" dirty="0"/>
          </a:p>
        </p:txBody>
      </p:sp>
      <p:sp>
        <p:nvSpPr>
          <p:cNvPr id="35" name="Text 33"/>
          <p:cNvSpPr/>
          <p:nvPr/>
        </p:nvSpPr>
        <p:spPr>
          <a:xfrm>
            <a:off x="8280197" y="4937760"/>
            <a:ext cx="1361389" cy="365760"/>
          </a:xfrm>
          <a:prstGeom prst="rect">
            <a:avLst/>
          </a:prstGeom>
          <a:noFill/>
          <a:ln/>
        </p:spPr>
        <p:txBody>
          <a:bodyPr wrap="square" rtlCol="0" anchor="ctr"/>
          <a:lstStyle/>
          <a:p>
            <a:pPr indent="0" marL="0">
              <a:buNone/>
            </a:pPr>
            <a:r>
              <a:rPr lang="en-US" sz="1100" dirty="0">
                <a:solidFill>
                  <a:srgbClr val="F0F4FA"/>
                </a:solidFill>
                <a:latin typeface="Calibri" pitchFamily="34" charset="0"/>
                <a:ea typeface="Calibri" pitchFamily="34" charset="-122"/>
                <a:cs typeface="Calibri" pitchFamily="34" charset="-120"/>
              </a:rPr>
              <a:t>F1 = 0,95</a:t>
            </a:r>
            <a:endParaRPr lang="en-US" sz="1100" dirty="0"/>
          </a:p>
        </p:txBody>
      </p:sp>
      <p:sp>
        <p:nvSpPr>
          <p:cNvPr id="36" name="Shape 34"/>
          <p:cNvSpPr/>
          <p:nvPr/>
        </p:nvSpPr>
        <p:spPr>
          <a:xfrm>
            <a:off x="10007346" y="2743200"/>
            <a:ext cx="1727149" cy="2743200"/>
          </a:xfrm>
          <a:prstGeom prst="roundRect">
            <a:avLst>
              <a:gd name="adj" fmla="val 6353"/>
            </a:avLst>
          </a:prstGeom>
          <a:solidFill>
            <a:srgbClr val="C8102E"/>
          </a:solidFill>
          <a:ln w="12700">
            <a:solidFill>
              <a:srgbClr val="C8102E"/>
            </a:solidFill>
            <a:prstDash val="solid"/>
          </a:ln>
        </p:spPr>
      </p:sp>
      <p:sp>
        <p:nvSpPr>
          <p:cNvPr id="37" name="Text 35"/>
          <p:cNvSpPr/>
          <p:nvPr/>
        </p:nvSpPr>
        <p:spPr>
          <a:xfrm>
            <a:off x="10190226" y="2926080"/>
            <a:ext cx="1361389" cy="274320"/>
          </a:xfrm>
          <a:prstGeom prst="rect">
            <a:avLst/>
          </a:prstGeom>
          <a:noFill/>
          <a:ln/>
        </p:spPr>
        <p:txBody>
          <a:bodyPr wrap="square" rtlCol="0" anchor="ctr"/>
          <a:lstStyle/>
          <a:p>
            <a:pPr indent="0" marL="0">
              <a:buNone/>
            </a:pPr>
            <a:r>
              <a:rPr lang="en-US" sz="1000" b="1" spc="300" kern="0" dirty="0">
                <a:solidFill>
                  <a:srgbClr val="8FB8E0"/>
                </a:solidFill>
                <a:latin typeface="Calibri" pitchFamily="34" charset="0"/>
                <a:ea typeface="Calibri" pitchFamily="34" charset="-122"/>
                <a:cs typeface="Calibri" pitchFamily="34" charset="-120"/>
              </a:rPr>
              <a:t>06</a:t>
            </a:r>
            <a:endParaRPr lang="en-US" sz="1000" dirty="0"/>
          </a:p>
        </p:txBody>
      </p:sp>
      <p:sp>
        <p:nvSpPr>
          <p:cNvPr id="38" name="Text 36"/>
          <p:cNvSpPr/>
          <p:nvPr/>
        </p:nvSpPr>
        <p:spPr>
          <a:xfrm>
            <a:off x="10190226" y="3291840"/>
            <a:ext cx="1361389"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Web App</a:t>
            </a:r>
            <a:endParaRPr lang="en-US" sz="1500" dirty="0"/>
          </a:p>
        </p:txBody>
      </p:sp>
      <p:sp>
        <p:nvSpPr>
          <p:cNvPr id="39" name="Text 37"/>
          <p:cNvSpPr/>
          <p:nvPr/>
        </p:nvSpPr>
        <p:spPr>
          <a:xfrm>
            <a:off x="10190226" y="4572000"/>
            <a:ext cx="1361389" cy="365760"/>
          </a:xfrm>
          <a:prstGeom prst="rect">
            <a:avLst/>
          </a:prstGeom>
          <a:noFill/>
          <a:ln/>
        </p:spPr>
        <p:txBody>
          <a:bodyPr wrap="square" rtlCol="0" anchor="ctr"/>
          <a:lstStyle/>
          <a:p>
            <a:pPr indent="0" marL="0">
              <a:buNone/>
            </a:pPr>
            <a:r>
              <a:rPr lang="en-US" sz="1200" b="1" dirty="0">
                <a:solidFill>
                  <a:srgbClr val="F0F4FA"/>
                </a:solidFill>
                <a:latin typeface="Calibri" pitchFamily="34" charset="0"/>
                <a:ea typeface="Calibri" pitchFamily="34" charset="-122"/>
                <a:cs typeface="Calibri" pitchFamily="34" charset="-120"/>
              </a:rPr>
              <a:t>Streamlit</a:t>
            </a:r>
            <a:endParaRPr lang="en-US" sz="1200" dirty="0"/>
          </a:p>
        </p:txBody>
      </p:sp>
      <p:sp>
        <p:nvSpPr>
          <p:cNvPr id="40" name="Text 38"/>
          <p:cNvSpPr/>
          <p:nvPr/>
        </p:nvSpPr>
        <p:spPr>
          <a:xfrm>
            <a:off x="10190226" y="4937760"/>
            <a:ext cx="1361389" cy="365760"/>
          </a:xfrm>
          <a:prstGeom prst="rect">
            <a:avLst/>
          </a:prstGeom>
          <a:noFill/>
          <a:ln/>
        </p:spPr>
        <p:txBody>
          <a:bodyPr wrap="square" rtlCol="0" anchor="ctr"/>
          <a:lstStyle/>
          <a:p>
            <a:pPr indent="0" marL="0">
              <a:buNone/>
            </a:pPr>
            <a:r>
              <a:rPr lang="en-US" sz="1100" dirty="0">
                <a:solidFill>
                  <a:srgbClr val="F0F4FA"/>
                </a:solidFill>
                <a:latin typeface="Calibri" pitchFamily="34" charset="0"/>
                <a:ea typeface="Calibri" pitchFamily="34" charset="-122"/>
                <a:cs typeface="Calibri" pitchFamily="34" charset="-120"/>
              </a:rPr>
              <a:t>scoring temps réel</a:t>
            </a:r>
            <a:endParaRPr lang="en-US" sz="1100" dirty="0"/>
          </a:p>
        </p:txBody>
      </p:sp>
      <p:sp>
        <p:nvSpPr>
          <p:cNvPr id="41" name="Shape 39"/>
          <p:cNvSpPr/>
          <p:nvPr/>
        </p:nvSpPr>
        <p:spPr>
          <a:xfrm>
            <a:off x="457200" y="5760720"/>
            <a:ext cx="1417320" cy="365760"/>
          </a:xfrm>
          <a:prstGeom prst="roundRect">
            <a:avLst>
              <a:gd name="adj" fmla="val 50000"/>
            </a:avLst>
          </a:prstGeom>
          <a:solidFill>
            <a:srgbClr val="FFFFFF"/>
          </a:solidFill>
          <a:ln w="12700">
            <a:solidFill>
              <a:srgbClr val="E2E8F0"/>
            </a:solidFill>
            <a:prstDash val="solid"/>
          </a:ln>
        </p:spPr>
      </p:sp>
      <p:sp>
        <p:nvSpPr>
          <p:cNvPr id="42" name="Text 40"/>
          <p:cNvSpPr/>
          <p:nvPr/>
        </p:nvSpPr>
        <p:spPr>
          <a:xfrm>
            <a:off x="457200" y="5760720"/>
            <a:ext cx="1417320" cy="36576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6 dimensions</a:t>
            </a:r>
            <a:endParaRPr lang="en-US" sz="1100" dirty="0"/>
          </a:p>
        </p:txBody>
      </p:sp>
      <p:sp>
        <p:nvSpPr>
          <p:cNvPr id="43" name="Shape 41"/>
          <p:cNvSpPr/>
          <p:nvPr/>
        </p:nvSpPr>
        <p:spPr>
          <a:xfrm>
            <a:off x="2057400" y="5760720"/>
            <a:ext cx="1783080" cy="365760"/>
          </a:xfrm>
          <a:prstGeom prst="roundRect">
            <a:avLst>
              <a:gd name="adj" fmla="val 50000"/>
            </a:avLst>
          </a:prstGeom>
          <a:solidFill>
            <a:srgbClr val="FFFFFF"/>
          </a:solidFill>
          <a:ln w="12700">
            <a:solidFill>
              <a:srgbClr val="E2E8F0"/>
            </a:solidFill>
            <a:prstDash val="solid"/>
          </a:ln>
        </p:spPr>
      </p:sp>
      <p:sp>
        <p:nvSpPr>
          <p:cNvPr id="44" name="Text 42"/>
          <p:cNvSpPr/>
          <p:nvPr/>
        </p:nvSpPr>
        <p:spPr>
          <a:xfrm>
            <a:off x="2057400" y="5760720"/>
            <a:ext cx="1783080" cy="36576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1 table de faits</a:t>
            </a:r>
            <a:endParaRPr lang="en-US" sz="1100" dirty="0"/>
          </a:p>
        </p:txBody>
      </p:sp>
      <p:sp>
        <p:nvSpPr>
          <p:cNvPr id="45" name="Shape 43"/>
          <p:cNvSpPr/>
          <p:nvPr/>
        </p:nvSpPr>
        <p:spPr>
          <a:xfrm>
            <a:off x="4023360" y="5760720"/>
            <a:ext cx="3154680" cy="365760"/>
          </a:xfrm>
          <a:prstGeom prst="roundRect">
            <a:avLst>
              <a:gd name="adj" fmla="val 50000"/>
            </a:avLst>
          </a:prstGeom>
          <a:solidFill>
            <a:srgbClr val="FFFFFF"/>
          </a:solidFill>
          <a:ln w="12700">
            <a:solidFill>
              <a:srgbClr val="E2E8F0"/>
            </a:solidFill>
            <a:prstDash val="solid"/>
          </a:ln>
        </p:spPr>
      </p:sp>
      <p:sp>
        <p:nvSpPr>
          <p:cNvPr id="46" name="Text 44"/>
          <p:cNvSpPr/>
          <p:nvPr/>
        </p:nvSpPr>
        <p:spPr>
          <a:xfrm>
            <a:off x="4023360" y="5760720"/>
            <a:ext cx="3154680" cy="36576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Clés de substitution textuelles</a:t>
            </a:r>
            <a:endParaRPr lang="en-US" sz="1100" dirty="0"/>
          </a:p>
        </p:txBody>
      </p:sp>
      <p:sp>
        <p:nvSpPr>
          <p:cNvPr id="47" name="Shape 45"/>
          <p:cNvSpPr/>
          <p:nvPr/>
        </p:nvSpPr>
        <p:spPr>
          <a:xfrm>
            <a:off x="7360920" y="5760720"/>
            <a:ext cx="2240280" cy="365760"/>
          </a:xfrm>
          <a:prstGeom prst="roundRect">
            <a:avLst>
              <a:gd name="adj" fmla="val 50000"/>
            </a:avLst>
          </a:prstGeom>
          <a:solidFill>
            <a:srgbClr val="FFFFFF"/>
          </a:solidFill>
          <a:ln w="12700">
            <a:solidFill>
              <a:srgbClr val="E2E8F0"/>
            </a:solidFill>
            <a:prstDash val="solid"/>
          </a:ln>
        </p:spPr>
      </p:sp>
      <p:sp>
        <p:nvSpPr>
          <p:cNvPr id="48" name="Text 46"/>
          <p:cNvSpPr/>
          <p:nvPr/>
        </p:nvSpPr>
        <p:spPr>
          <a:xfrm>
            <a:off x="7360920" y="5760720"/>
            <a:ext cx="2240280" cy="36576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32 tests de cohérence</a:t>
            </a:r>
            <a:endParaRPr lang="en-US" sz="1100" dirty="0"/>
          </a:p>
        </p:txBody>
      </p:sp>
      <p:sp>
        <p:nvSpPr>
          <p:cNvPr id="49" name="Text 4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50" name="Text 48"/>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ETL</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05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RIGUEUR DE PRÉPARATION</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7 bugs. 32 tests. Zéro impasse.</a:t>
            </a:r>
            <a:endParaRPr lang="en-US" sz="3600" dirty="0"/>
          </a:p>
        </p:txBody>
      </p:sp>
      <p:sp>
        <p:nvSpPr>
          <p:cNvPr id="11" name="Shape 9"/>
          <p:cNvSpPr/>
          <p:nvPr/>
        </p:nvSpPr>
        <p:spPr>
          <a:xfrm>
            <a:off x="457200" y="2468880"/>
            <a:ext cx="3576218" cy="1737360"/>
          </a:xfrm>
          <a:prstGeom prst="roundRect">
            <a:avLst>
              <a:gd name="adj" fmla="val 6316"/>
            </a:avLst>
          </a:prstGeom>
          <a:solidFill>
            <a:srgbClr val="FFFFFF"/>
          </a:solidFill>
          <a:ln w="12700">
            <a:solidFill>
              <a:srgbClr val="E2E8F0"/>
            </a:solidFill>
            <a:prstDash val="solid"/>
          </a:ln>
        </p:spPr>
      </p:sp>
      <p:sp>
        <p:nvSpPr>
          <p:cNvPr id="12" name="Text 10"/>
          <p:cNvSpPr/>
          <p:nvPr/>
        </p:nvSpPr>
        <p:spPr>
          <a:xfrm>
            <a:off x="685800" y="2697480"/>
            <a:ext cx="3119018" cy="955548"/>
          </a:xfrm>
          <a:prstGeom prst="rect">
            <a:avLst/>
          </a:prstGeom>
          <a:noFill/>
          <a:ln/>
        </p:spPr>
        <p:txBody>
          <a:bodyPr wrap="square" rtlCol="0" anchor="ctr"/>
          <a:lstStyle/>
          <a:p>
            <a:pPr indent="0" marL="0">
              <a:buNone/>
            </a:pPr>
            <a:r>
              <a:rPr lang="en-US" sz="4400" b="1" dirty="0">
                <a:solidFill>
                  <a:srgbClr val="C8102E"/>
                </a:solidFill>
                <a:latin typeface="Calibri" pitchFamily="34" charset="0"/>
                <a:ea typeface="Calibri" pitchFamily="34" charset="-122"/>
                <a:cs typeface="Calibri" pitchFamily="34" charset="-120"/>
              </a:rPr>
              <a:t>7</a:t>
            </a:r>
            <a:endParaRPr lang="en-US" sz="4400" dirty="0"/>
          </a:p>
        </p:txBody>
      </p:sp>
      <p:sp>
        <p:nvSpPr>
          <p:cNvPr id="13" name="Text 11"/>
          <p:cNvSpPr/>
          <p:nvPr/>
        </p:nvSpPr>
        <p:spPr>
          <a:xfrm>
            <a:off x="685800" y="35204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bugs data réels détectés &amp; corrigés</a:t>
            </a:r>
            <a:endParaRPr lang="en-US" sz="1200" dirty="0"/>
          </a:p>
        </p:txBody>
      </p:sp>
      <p:sp>
        <p:nvSpPr>
          <p:cNvPr id="14" name="Shape 12"/>
          <p:cNvSpPr/>
          <p:nvPr/>
        </p:nvSpPr>
        <p:spPr>
          <a:xfrm>
            <a:off x="4307738" y="2468880"/>
            <a:ext cx="3576218" cy="1737360"/>
          </a:xfrm>
          <a:prstGeom prst="roundRect">
            <a:avLst>
              <a:gd name="adj" fmla="val 6316"/>
            </a:avLst>
          </a:prstGeom>
          <a:solidFill>
            <a:srgbClr val="FFFFFF"/>
          </a:solidFill>
          <a:ln w="12700">
            <a:solidFill>
              <a:srgbClr val="E2E8F0"/>
            </a:solidFill>
            <a:prstDash val="solid"/>
          </a:ln>
        </p:spPr>
      </p:sp>
      <p:sp>
        <p:nvSpPr>
          <p:cNvPr id="15" name="Text 13"/>
          <p:cNvSpPr/>
          <p:nvPr/>
        </p:nvSpPr>
        <p:spPr>
          <a:xfrm>
            <a:off x="4536338" y="2697480"/>
            <a:ext cx="3119018" cy="955548"/>
          </a:xfrm>
          <a:prstGeom prst="rect">
            <a:avLst/>
          </a:prstGeom>
          <a:noFill/>
          <a:ln/>
        </p:spPr>
        <p:txBody>
          <a:bodyPr wrap="square" rtlCol="0" anchor="ctr"/>
          <a:lstStyle/>
          <a:p>
            <a:pPr indent="0" marL="0">
              <a:buNone/>
            </a:pPr>
            <a:r>
              <a:rPr lang="en-US" sz="4400" b="1" dirty="0">
                <a:solidFill>
                  <a:srgbClr val="0B5394"/>
                </a:solidFill>
                <a:latin typeface="Calibri" pitchFamily="34" charset="0"/>
                <a:ea typeface="Calibri" pitchFamily="34" charset="-122"/>
                <a:cs typeface="Calibri" pitchFamily="34" charset="-120"/>
              </a:rPr>
              <a:t>32</a:t>
            </a:r>
            <a:endParaRPr lang="en-US" sz="4400" dirty="0"/>
          </a:p>
        </p:txBody>
      </p:sp>
      <p:sp>
        <p:nvSpPr>
          <p:cNvPr id="16" name="Text 14"/>
          <p:cNvSpPr/>
          <p:nvPr/>
        </p:nvSpPr>
        <p:spPr>
          <a:xfrm>
            <a:off x="4536338" y="35204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tests de cohérence automatisés</a:t>
            </a:r>
            <a:endParaRPr lang="en-US" sz="1200" dirty="0"/>
          </a:p>
        </p:txBody>
      </p:sp>
      <p:sp>
        <p:nvSpPr>
          <p:cNvPr id="17" name="Shape 15"/>
          <p:cNvSpPr/>
          <p:nvPr/>
        </p:nvSpPr>
        <p:spPr>
          <a:xfrm>
            <a:off x="8158277" y="2468880"/>
            <a:ext cx="3576218" cy="1737360"/>
          </a:xfrm>
          <a:prstGeom prst="roundRect">
            <a:avLst>
              <a:gd name="adj" fmla="val 6316"/>
            </a:avLst>
          </a:prstGeom>
          <a:solidFill>
            <a:srgbClr val="FFFFFF"/>
          </a:solidFill>
          <a:ln w="12700">
            <a:solidFill>
              <a:srgbClr val="E2E8F0"/>
            </a:solidFill>
            <a:prstDash val="solid"/>
          </a:ln>
        </p:spPr>
      </p:sp>
      <p:sp>
        <p:nvSpPr>
          <p:cNvPr id="18" name="Text 16"/>
          <p:cNvSpPr/>
          <p:nvPr/>
        </p:nvSpPr>
        <p:spPr>
          <a:xfrm>
            <a:off x="8386877" y="2697480"/>
            <a:ext cx="3119018" cy="955548"/>
          </a:xfrm>
          <a:prstGeom prst="rect">
            <a:avLst/>
          </a:prstGeom>
          <a:noFill/>
          <a:ln/>
        </p:spPr>
        <p:txBody>
          <a:bodyPr wrap="square" rtlCol="0" anchor="ctr"/>
          <a:lstStyle/>
          <a:p>
            <a:pPr indent="0" marL="0">
              <a:buNone/>
            </a:pPr>
            <a:r>
              <a:rPr lang="en-US" sz="4400" b="1" dirty="0">
                <a:solidFill>
                  <a:srgbClr val="0B5394"/>
                </a:solidFill>
                <a:latin typeface="Calibri" pitchFamily="34" charset="0"/>
                <a:ea typeface="Calibri" pitchFamily="34" charset="-122"/>
                <a:cs typeface="Calibri" pitchFamily="34" charset="-120"/>
              </a:rPr>
              <a:t>33 571</a:t>
            </a:r>
            <a:endParaRPr lang="en-US" sz="4400" dirty="0"/>
          </a:p>
        </p:txBody>
      </p:sp>
      <p:sp>
        <p:nvSpPr>
          <p:cNvPr id="19" name="Text 17"/>
          <p:cNvSpPr/>
          <p:nvPr/>
        </p:nvSpPr>
        <p:spPr>
          <a:xfrm>
            <a:off x="8386877" y="35204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lignes rectifiées sur le seul bug de date</a:t>
            </a:r>
            <a:endParaRPr lang="en-US" sz="1200" dirty="0"/>
          </a:p>
        </p:txBody>
      </p:sp>
      <p:sp>
        <p:nvSpPr>
          <p:cNvPr id="20" name="Text 18"/>
          <p:cNvSpPr/>
          <p:nvPr/>
        </p:nvSpPr>
        <p:spPr>
          <a:xfrm>
            <a:off x="457200" y="443484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EXEMPLES PARLANTS</a:t>
            </a:r>
            <a:endParaRPr lang="en-US" sz="1100" dirty="0"/>
          </a:p>
        </p:txBody>
      </p:sp>
      <p:sp>
        <p:nvSpPr>
          <p:cNvPr id="21" name="Shape 19"/>
          <p:cNvSpPr/>
          <p:nvPr/>
        </p:nvSpPr>
        <p:spPr>
          <a:xfrm>
            <a:off x="457200" y="4928616"/>
            <a:ext cx="128016" cy="128016"/>
          </a:xfrm>
          <a:prstGeom prst="ellipse">
            <a:avLst/>
          </a:prstGeom>
          <a:solidFill>
            <a:srgbClr val="C8102E"/>
          </a:solidFill>
          <a:ln w="12700">
            <a:solidFill>
              <a:srgbClr val="C8102E"/>
            </a:solidFill>
            <a:prstDash val="solid"/>
          </a:ln>
        </p:spPr>
      </p:sp>
      <p:sp>
        <p:nvSpPr>
          <p:cNvPr id="22" name="Text 20"/>
          <p:cNvSpPr/>
          <p:nvPr/>
        </p:nvSpPr>
        <p:spPr>
          <a:xfrm>
            <a:off x="713232" y="4800600"/>
            <a:ext cx="11021263"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Dates d'ouverture polluées par la date d'extraction système — 33 571 lignes concernées, corrigées par ré-imputation contextuelle.</a:t>
            </a:r>
            <a:endParaRPr lang="en-US" sz="1400" dirty="0"/>
          </a:p>
        </p:txBody>
      </p:sp>
      <p:sp>
        <p:nvSpPr>
          <p:cNvPr id="23" name="Shape 21"/>
          <p:cNvSpPr/>
          <p:nvPr/>
        </p:nvSpPr>
        <p:spPr>
          <a:xfrm>
            <a:off x="457200" y="5431536"/>
            <a:ext cx="128016" cy="128016"/>
          </a:xfrm>
          <a:prstGeom prst="ellipse">
            <a:avLst/>
          </a:prstGeom>
          <a:solidFill>
            <a:srgbClr val="0B5394"/>
          </a:solidFill>
          <a:ln w="12700">
            <a:solidFill>
              <a:srgbClr val="0B5394"/>
            </a:solidFill>
            <a:prstDash val="solid"/>
          </a:ln>
        </p:spPr>
      </p:sp>
      <p:sp>
        <p:nvSpPr>
          <p:cNvPr id="24" name="Text 22"/>
          <p:cNvSpPr/>
          <p:nvPr/>
        </p:nvSpPr>
        <p:spPr>
          <a:xfrm>
            <a:off x="713232" y="5303520"/>
            <a:ext cx="11021263"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Règle MARITAL_STATUS incomplète — mapping enrichi pour couvrir les modalités manquantes.</a:t>
            </a:r>
            <a:endParaRPr lang="en-US" sz="1400" dirty="0"/>
          </a:p>
        </p:txBody>
      </p:sp>
      <p:sp>
        <p:nvSpPr>
          <p:cNvPr id="25" name="Shape 23"/>
          <p:cNvSpPr/>
          <p:nvPr/>
        </p:nvSpPr>
        <p:spPr>
          <a:xfrm>
            <a:off x="457200" y="5934456"/>
            <a:ext cx="128016" cy="128016"/>
          </a:xfrm>
          <a:prstGeom prst="ellipse">
            <a:avLst/>
          </a:prstGeom>
          <a:solidFill>
            <a:srgbClr val="0B5394"/>
          </a:solidFill>
          <a:ln w="12700">
            <a:solidFill>
              <a:srgbClr val="0B5394"/>
            </a:solidFill>
            <a:prstDash val="solid"/>
          </a:ln>
        </p:spPr>
      </p:sp>
      <p:sp>
        <p:nvSpPr>
          <p:cNvPr id="26" name="Text 24"/>
          <p:cNvSpPr/>
          <p:nvPr/>
        </p:nvSpPr>
        <p:spPr>
          <a:xfrm>
            <a:off x="713232" y="5806440"/>
            <a:ext cx="11021263"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Doublons masqués par des espaces et des variantes de casse sur les identifiants texte.</a:t>
            </a:r>
            <a:endParaRPr lang="en-US" sz="1400" dirty="0"/>
          </a:p>
        </p:txBody>
      </p:sp>
      <p:sp>
        <p:nvSpPr>
          <p:cNvPr id="27" name="Text 2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28" name="Text 26"/>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Data Warehouse</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06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MODÉLISATION DIMENSIONNELLE</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Schéma en étoile, chargé sous PostgreSQL.</a:t>
            </a:r>
            <a:endParaRPr lang="en-US" sz="3600" dirty="0"/>
          </a:p>
        </p:txBody>
      </p:sp>
      <p:sp>
        <p:nvSpPr>
          <p:cNvPr id="11" name="Shape 9"/>
          <p:cNvSpPr/>
          <p:nvPr/>
        </p:nvSpPr>
        <p:spPr>
          <a:xfrm>
            <a:off x="457200" y="2468880"/>
            <a:ext cx="5486400" cy="3657600"/>
          </a:xfrm>
          <a:prstGeom prst="roundRect">
            <a:avLst>
              <a:gd name="adj" fmla="val 2500"/>
            </a:avLst>
          </a:prstGeom>
          <a:solidFill>
            <a:srgbClr val="EAEFF6"/>
          </a:solidFill>
          <a:ln w="19050">
            <a:solidFill>
              <a:srgbClr val="B7C3D5"/>
            </a:solidFill>
            <a:prstDash val="dash"/>
          </a:ln>
        </p:spPr>
      </p:sp>
      <p:sp>
        <p:nvSpPr>
          <p:cNvPr id="12" name="Text 10"/>
          <p:cNvSpPr/>
          <p:nvPr/>
        </p:nvSpPr>
        <p:spPr>
          <a:xfrm>
            <a:off x="457200" y="2468880"/>
            <a:ext cx="5486400" cy="3657600"/>
          </a:xfrm>
          <a:prstGeom prst="rect">
            <a:avLst/>
          </a:prstGeom>
          <a:noFill/>
          <a:ln/>
        </p:spPr>
        <p:txBody>
          <a:bodyPr wrap="square" rtlCol="0" anchor="ctr"/>
          <a:lstStyle/>
          <a:p>
            <a:pPr algn="ctr" indent="0" marL="0">
              <a:buNone/>
            </a:pPr>
            <a:r>
              <a:rPr lang="en-US" sz="1300" b="1" i="1" dirty="0">
                <a:solidFill>
                  <a:srgbClr val="073763"/>
                </a:solidFill>
                <a:latin typeface="Calibri" pitchFamily="34" charset="0"/>
                <a:ea typeface="Calibri" pitchFamily="34" charset="-122"/>
                <a:cs typeface="Calibri" pitchFamily="34" charset="-120"/>
              </a:rPr>
              <a:t>[Capture pgAdmin — schéma étoile + tables chargées]</a:t>
            </a:r>
            <a:endParaRPr lang="en-US" sz="1300" dirty="0"/>
          </a:p>
        </p:txBody>
      </p:sp>
      <p:sp>
        <p:nvSpPr>
          <p:cNvPr id="13" name="Shape 11"/>
          <p:cNvSpPr/>
          <p:nvPr/>
        </p:nvSpPr>
        <p:spPr>
          <a:xfrm>
            <a:off x="6400800" y="2560320"/>
            <a:ext cx="914400" cy="411480"/>
          </a:xfrm>
          <a:prstGeom prst="roundRect">
            <a:avLst>
              <a:gd name="adj" fmla="val 50000"/>
            </a:avLst>
          </a:prstGeom>
          <a:solidFill>
            <a:srgbClr val="C8102E"/>
          </a:solidFill>
          <a:ln w="12700">
            <a:solidFill>
              <a:srgbClr val="C8102E"/>
            </a:solidFill>
            <a:prstDash val="solid"/>
          </a:ln>
        </p:spPr>
      </p:sp>
      <p:sp>
        <p:nvSpPr>
          <p:cNvPr id="14" name="Text 12"/>
          <p:cNvSpPr/>
          <p:nvPr/>
        </p:nvSpPr>
        <p:spPr>
          <a:xfrm>
            <a:off x="6400800" y="2560320"/>
            <a:ext cx="91440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FAIT</a:t>
            </a:r>
            <a:endParaRPr lang="en-US" sz="1100" dirty="0"/>
          </a:p>
        </p:txBody>
      </p:sp>
      <p:sp>
        <p:nvSpPr>
          <p:cNvPr id="15" name="Text 13"/>
          <p:cNvSpPr/>
          <p:nvPr/>
        </p:nvSpPr>
        <p:spPr>
          <a:xfrm>
            <a:off x="7498080" y="2560320"/>
            <a:ext cx="4389120" cy="411480"/>
          </a:xfrm>
          <a:prstGeom prst="rect">
            <a:avLst/>
          </a:prstGeom>
          <a:noFill/>
          <a:ln/>
        </p:spPr>
        <p:txBody>
          <a:bodyPr wrap="square"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fact_account_event</a:t>
            </a:r>
            <a:endParaRPr lang="en-US" sz="1800" dirty="0"/>
          </a:p>
        </p:txBody>
      </p:sp>
      <p:sp>
        <p:nvSpPr>
          <p:cNvPr id="16" name="Shape 14"/>
          <p:cNvSpPr/>
          <p:nvPr/>
        </p:nvSpPr>
        <p:spPr>
          <a:xfrm>
            <a:off x="6400800" y="3154680"/>
            <a:ext cx="5303520" cy="0"/>
          </a:xfrm>
          <a:prstGeom prst="line">
            <a:avLst/>
          </a:prstGeom>
          <a:noFill/>
          <a:ln w="12700">
            <a:solidFill>
              <a:srgbClr val="E2E8F0"/>
            </a:solidFill>
            <a:prstDash val="solid"/>
          </a:ln>
        </p:spPr>
      </p:sp>
      <p:sp>
        <p:nvSpPr>
          <p:cNvPr id="17" name="Text 15"/>
          <p:cNvSpPr/>
          <p:nvPr/>
        </p:nvSpPr>
        <p:spPr>
          <a:xfrm>
            <a:off x="6400800" y="338328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6 DIMENSIONS</a:t>
            </a:r>
            <a:endParaRPr lang="en-US" sz="1100" dirty="0"/>
          </a:p>
        </p:txBody>
      </p:sp>
      <p:sp>
        <p:nvSpPr>
          <p:cNvPr id="18" name="Shape 16"/>
          <p:cNvSpPr/>
          <p:nvPr/>
        </p:nvSpPr>
        <p:spPr>
          <a:xfrm>
            <a:off x="6400800" y="3703320"/>
            <a:ext cx="2560320" cy="384048"/>
          </a:xfrm>
          <a:prstGeom prst="roundRect">
            <a:avLst>
              <a:gd name="adj" fmla="val 50000"/>
            </a:avLst>
          </a:prstGeom>
          <a:solidFill>
            <a:srgbClr val="FFFFFF"/>
          </a:solidFill>
          <a:ln w="12700">
            <a:solidFill>
              <a:srgbClr val="E2E8F0"/>
            </a:solidFill>
            <a:prstDash val="solid"/>
          </a:ln>
        </p:spPr>
      </p:sp>
      <p:sp>
        <p:nvSpPr>
          <p:cNvPr id="19" name="Text 17"/>
          <p:cNvSpPr/>
          <p:nvPr/>
        </p:nvSpPr>
        <p:spPr>
          <a:xfrm>
            <a:off x="6400800" y="370332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dim_client</a:t>
            </a:r>
            <a:endParaRPr lang="en-US" sz="1100" dirty="0"/>
          </a:p>
        </p:txBody>
      </p:sp>
      <p:sp>
        <p:nvSpPr>
          <p:cNvPr id="20" name="Shape 18"/>
          <p:cNvSpPr/>
          <p:nvPr/>
        </p:nvSpPr>
        <p:spPr>
          <a:xfrm>
            <a:off x="9098280" y="3703320"/>
            <a:ext cx="2560320" cy="384048"/>
          </a:xfrm>
          <a:prstGeom prst="roundRect">
            <a:avLst>
              <a:gd name="adj" fmla="val 50000"/>
            </a:avLst>
          </a:prstGeom>
          <a:solidFill>
            <a:srgbClr val="FFFFFF"/>
          </a:solidFill>
          <a:ln w="12700">
            <a:solidFill>
              <a:srgbClr val="E2E8F0"/>
            </a:solidFill>
            <a:prstDash val="solid"/>
          </a:ln>
        </p:spPr>
      </p:sp>
      <p:sp>
        <p:nvSpPr>
          <p:cNvPr id="21" name="Text 19"/>
          <p:cNvSpPr/>
          <p:nvPr/>
        </p:nvSpPr>
        <p:spPr>
          <a:xfrm>
            <a:off x="9098280" y="370332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dim_account</a:t>
            </a:r>
            <a:endParaRPr lang="en-US" sz="1100" dirty="0"/>
          </a:p>
        </p:txBody>
      </p:sp>
      <p:sp>
        <p:nvSpPr>
          <p:cNvPr id="22" name="Shape 20"/>
          <p:cNvSpPr/>
          <p:nvPr/>
        </p:nvSpPr>
        <p:spPr>
          <a:xfrm>
            <a:off x="6400800" y="4206240"/>
            <a:ext cx="2560320" cy="384048"/>
          </a:xfrm>
          <a:prstGeom prst="roundRect">
            <a:avLst>
              <a:gd name="adj" fmla="val 50000"/>
            </a:avLst>
          </a:prstGeom>
          <a:solidFill>
            <a:srgbClr val="FFFFFF"/>
          </a:solidFill>
          <a:ln w="12700">
            <a:solidFill>
              <a:srgbClr val="E2E8F0"/>
            </a:solidFill>
            <a:prstDash val="solid"/>
          </a:ln>
        </p:spPr>
      </p:sp>
      <p:sp>
        <p:nvSpPr>
          <p:cNvPr id="23" name="Text 21"/>
          <p:cNvSpPr/>
          <p:nvPr/>
        </p:nvSpPr>
        <p:spPr>
          <a:xfrm>
            <a:off x="6400800" y="420624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dim_agency</a:t>
            </a:r>
            <a:endParaRPr lang="en-US" sz="1100" dirty="0"/>
          </a:p>
        </p:txBody>
      </p:sp>
      <p:sp>
        <p:nvSpPr>
          <p:cNvPr id="24" name="Shape 22"/>
          <p:cNvSpPr/>
          <p:nvPr/>
        </p:nvSpPr>
        <p:spPr>
          <a:xfrm>
            <a:off x="9098280" y="4206240"/>
            <a:ext cx="2560320" cy="384048"/>
          </a:xfrm>
          <a:prstGeom prst="roundRect">
            <a:avLst>
              <a:gd name="adj" fmla="val 50000"/>
            </a:avLst>
          </a:prstGeom>
          <a:solidFill>
            <a:srgbClr val="FFFFFF"/>
          </a:solidFill>
          <a:ln w="12700">
            <a:solidFill>
              <a:srgbClr val="E2E8F0"/>
            </a:solidFill>
            <a:prstDash val="solid"/>
          </a:ln>
        </p:spPr>
      </p:sp>
      <p:sp>
        <p:nvSpPr>
          <p:cNvPr id="25" name="Text 23"/>
          <p:cNvSpPr/>
          <p:nvPr/>
        </p:nvSpPr>
        <p:spPr>
          <a:xfrm>
            <a:off x="9098280" y="420624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dim_date</a:t>
            </a:r>
            <a:endParaRPr lang="en-US" sz="1100" dirty="0"/>
          </a:p>
        </p:txBody>
      </p:sp>
      <p:sp>
        <p:nvSpPr>
          <p:cNvPr id="26" name="Shape 24"/>
          <p:cNvSpPr/>
          <p:nvPr/>
        </p:nvSpPr>
        <p:spPr>
          <a:xfrm>
            <a:off x="6400800" y="4709160"/>
            <a:ext cx="2560320" cy="384048"/>
          </a:xfrm>
          <a:prstGeom prst="roundRect">
            <a:avLst>
              <a:gd name="adj" fmla="val 50000"/>
            </a:avLst>
          </a:prstGeom>
          <a:solidFill>
            <a:srgbClr val="FFFFFF"/>
          </a:solidFill>
          <a:ln w="12700">
            <a:solidFill>
              <a:srgbClr val="E2E8F0"/>
            </a:solidFill>
            <a:prstDash val="solid"/>
          </a:ln>
        </p:spPr>
      </p:sp>
      <p:sp>
        <p:nvSpPr>
          <p:cNvPr id="27" name="Text 25"/>
          <p:cNvSpPr/>
          <p:nvPr/>
        </p:nvSpPr>
        <p:spPr>
          <a:xfrm>
            <a:off x="6400800" y="470916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dim_product</a:t>
            </a:r>
            <a:endParaRPr lang="en-US" sz="1100" dirty="0"/>
          </a:p>
        </p:txBody>
      </p:sp>
      <p:sp>
        <p:nvSpPr>
          <p:cNvPr id="28" name="Shape 26"/>
          <p:cNvSpPr/>
          <p:nvPr/>
        </p:nvSpPr>
        <p:spPr>
          <a:xfrm>
            <a:off x="9098280" y="4709160"/>
            <a:ext cx="2560320" cy="384048"/>
          </a:xfrm>
          <a:prstGeom prst="roundRect">
            <a:avLst>
              <a:gd name="adj" fmla="val 50000"/>
            </a:avLst>
          </a:prstGeom>
          <a:solidFill>
            <a:srgbClr val="FFFFFF"/>
          </a:solidFill>
          <a:ln w="12700">
            <a:solidFill>
              <a:srgbClr val="E2E8F0"/>
            </a:solidFill>
            <a:prstDash val="solid"/>
          </a:ln>
        </p:spPr>
      </p:sp>
      <p:sp>
        <p:nvSpPr>
          <p:cNvPr id="29" name="Text 27"/>
          <p:cNvSpPr/>
          <p:nvPr/>
        </p:nvSpPr>
        <p:spPr>
          <a:xfrm>
            <a:off x="9098280" y="4709160"/>
            <a:ext cx="2560320" cy="384048"/>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dim_channel</a:t>
            </a:r>
            <a:endParaRPr lang="en-US" sz="1100" dirty="0"/>
          </a:p>
        </p:txBody>
      </p:sp>
      <p:sp>
        <p:nvSpPr>
          <p:cNvPr id="30" name="Text 28"/>
          <p:cNvSpPr/>
          <p:nvPr/>
        </p:nvSpPr>
        <p:spPr>
          <a:xfrm>
            <a:off x="6400800" y="53949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CLÉS DE SUBSTITUTION</a:t>
            </a:r>
            <a:endParaRPr lang="en-US" sz="1100" dirty="0"/>
          </a:p>
        </p:txBody>
      </p:sp>
      <p:sp>
        <p:nvSpPr>
          <p:cNvPr id="31" name="Text 29"/>
          <p:cNvSpPr/>
          <p:nvPr/>
        </p:nvSpPr>
        <p:spPr>
          <a:xfrm>
            <a:off x="6400800" y="5669280"/>
            <a:ext cx="5303520" cy="457200"/>
          </a:xfrm>
          <a:prstGeom prst="rect">
            <a:avLst/>
          </a:prstGeom>
          <a:noFill/>
          <a:ln/>
        </p:spPr>
        <p:txBody>
          <a:bodyPr wrap="square" rtlCol="0" anchor="ctr"/>
          <a:lstStyle/>
          <a:p>
            <a:pPr indent="0" marL="0">
              <a:buNone/>
            </a:pPr>
            <a:r>
              <a:rPr lang="en-US" sz="1600" b="1" dirty="0">
                <a:solidFill>
                  <a:srgbClr val="073763"/>
                </a:solidFill>
                <a:latin typeface="Consolas" pitchFamily="34" charset="0"/>
                <a:ea typeface="Consolas" pitchFamily="34" charset="-122"/>
                <a:cs typeface="Consolas" pitchFamily="34" charset="-120"/>
              </a:rPr>
              <a:t>CLI_000001 · DATE_00001 · ACC_000001</a:t>
            </a:r>
            <a:endParaRPr lang="en-US" sz="1600" dirty="0"/>
          </a:p>
        </p:txBody>
      </p:sp>
      <p:sp>
        <p:nvSpPr>
          <p:cNvPr id="32" name="Text 30"/>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3" name="Text 31"/>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Power BI</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07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RESTITUTION BUSINESS</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4 dashboards, 1 lecture métier.</a:t>
            </a:r>
            <a:endParaRPr lang="en-US" sz="3600" dirty="0"/>
          </a:p>
        </p:txBody>
      </p:sp>
      <p:sp>
        <p:nvSpPr>
          <p:cNvPr id="11" name="Shape 9"/>
          <p:cNvSpPr/>
          <p:nvPr/>
        </p:nvSpPr>
        <p:spPr>
          <a:xfrm>
            <a:off x="457200" y="2331720"/>
            <a:ext cx="3576218" cy="1280160"/>
          </a:xfrm>
          <a:prstGeom prst="roundRect">
            <a:avLst>
              <a:gd name="adj" fmla="val 8571"/>
            </a:avLst>
          </a:prstGeom>
          <a:solidFill>
            <a:srgbClr val="FFFFFF"/>
          </a:solidFill>
          <a:ln w="12700">
            <a:solidFill>
              <a:srgbClr val="E2E8F0"/>
            </a:solidFill>
            <a:prstDash val="solid"/>
          </a:ln>
        </p:spPr>
      </p:sp>
      <p:sp>
        <p:nvSpPr>
          <p:cNvPr id="12" name="Text 10"/>
          <p:cNvSpPr/>
          <p:nvPr/>
        </p:nvSpPr>
        <p:spPr>
          <a:xfrm>
            <a:off x="685800" y="2560320"/>
            <a:ext cx="3119018" cy="704088"/>
          </a:xfrm>
          <a:prstGeom prst="rect">
            <a:avLst/>
          </a:prstGeom>
          <a:noFill/>
          <a:ln/>
        </p:spPr>
        <p:txBody>
          <a:bodyPr wrap="square" rtlCol="0" anchor="ctr"/>
          <a:lstStyle/>
          <a:p>
            <a:pPr indent="0" marL="0">
              <a:buNone/>
            </a:pPr>
            <a:r>
              <a:rPr lang="en-US" sz="3200" b="1" dirty="0">
                <a:solidFill>
                  <a:srgbClr val="C8102E"/>
                </a:solidFill>
                <a:latin typeface="Calibri" pitchFamily="34" charset="0"/>
                <a:ea typeface="Calibri" pitchFamily="34" charset="-122"/>
                <a:cs typeface="Calibri" pitchFamily="34" charset="-120"/>
              </a:rPr>
              <a:t>41,16%</a:t>
            </a:r>
            <a:endParaRPr lang="en-US" sz="3200" dirty="0"/>
          </a:p>
        </p:txBody>
      </p:sp>
      <p:sp>
        <p:nvSpPr>
          <p:cNvPr id="13" name="Text 11"/>
          <p:cNvSpPr/>
          <p:nvPr/>
        </p:nvSpPr>
        <p:spPr>
          <a:xfrm>
            <a:off x="685800" y="292608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Churn global</a:t>
            </a:r>
            <a:endParaRPr lang="en-US" sz="1200" dirty="0"/>
          </a:p>
        </p:txBody>
      </p:sp>
      <p:sp>
        <p:nvSpPr>
          <p:cNvPr id="14" name="Shape 12"/>
          <p:cNvSpPr/>
          <p:nvPr/>
        </p:nvSpPr>
        <p:spPr>
          <a:xfrm>
            <a:off x="4307738" y="2331720"/>
            <a:ext cx="3576218" cy="1280160"/>
          </a:xfrm>
          <a:prstGeom prst="roundRect">
            <a:avLst>
              <a:gd name="adj" fmla="val 8571"/>
            </a:avLst>
          </a:prstGeom>
          <a:solidFill>
            <a:srgbClr val="FFFFFF"/>
          </a:solidFill>
          <a:ln w="12700">
            <a:solidFill>
              <a:srgbClr val="E2E8F0"/>
            </a:solidFill>
            <a:prstDash val="solid"/>
          </a:ln>
        </p:spPr>
      </p:sp>
      <p:sp>
        <p:nvSpPr>
          <p:cNvPr id="15" name="Text 13"/>
          <p:cNvSpPr/>
          <p:nvPr/>
        </p:nvSpPr>
        <p:spPr>
          <a:xfrm>
            <a:off x="4536338" y="2560320"/>
            <a:ext cx="3119018" cy="704088"/>
          </a:xfrm>
          <a:prstGeom prst="rect">
            <a:avLst/>
          </a:prstGeom>
          <a:noFill/>
          <a:ln/>
        </p:spPr>
        <p:txBody>
          <a:bodyPr wrap="square" rtlCol="0" anchor="ctr"/>
          <a:lstStyle/>
          <a:p>
            <a:pPr indent="0" marL="0">
              <a:buNone/>
            </a:pPr>
            <a:r>
              <a:rPr lang="en-US" sz="3200" b="1" dirty="0">
                <a:solidFill>
                  <a:srgbClr val="0B5394"/>
                </a:solidFill>
                <a:latin typeface="Calibri" pitchFamily="34" charset="0"/>
                <a:ea typeface="Calibri" pitchFamily="34" charset="-122"/>
                <a:cs typeface="Calibri" pitchFamily="34" charset="-120"/>
              </a:rPr>
              <a:t>319K</a:t>
            </a:r>
            <a:endParaRPr lang="en-US" sz="3200" dirty="0"/>
          </a:p>
        </p:txBody>
      </p:sp>
      <p:sp>
        <p:nvSpPr>
          <p:cNvPr id="16" name="Text 14"/>
          <p:cNvSpPr/>
          <p:nvPr/>
        </p:nvSpPr>
        <p:spPr>
          <a:xfrm>
            <a:off x="4536338" y="292608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Clients suivis</a:t>
            </a:r>
            <a:endParaRPr lang="en-US" sz="1200" dirty="0"/>
          </a:p>
        </p:txBody>
      </p:sp>
      <p:sp>
        <p:nvSpPr>
          <p:cNvPr id="17" name="Shape 15"/>
          <p:cNvSpPr/>
          <p:nvPr/>
        </p:nvSpPr>
        <p:spPr>
          <a:xfrm>
            <a:off x="8158277" y="2331720"/>
            <a:ext cx="3576218" cy="1280160"/>
          </a:xfrm>
          <a:prstGeom prst="roundRect">
            <a:avLst>
              <a:gd name="adj" fmla="val 8571"/>
            </a:avLst>
          </a:prstGeom>
          <a:solidFill>
            <a:srgbClr val="FFFFFF"/>
          </a:solidFill>
          <a:ln w="12700">
            <a:solidFill>
              <a:srgbClr val="E2E8F0"/>
            </a:solidFill>
            <a:prstDash val="solid"/>
          </a:ln>
        </p:spPr>
      </p:sp>
      <p:sp>
        <p:nvSpPr>
          <p:cNvPr id="18" name="Text 16"/>
          <p:cNvSpPr/>
          <p:nvPr/>
        </p:nvSpPr>
        <p:spPr>
          <a:xfrm>
            <a:off x="8386877" y="2560320"/>
            <a:ext cx="3119018" cy="704088"/>
          </a:xfrm>
          <a:prstGeom prst="rect">
            <a:avLst/>
          </a:prstGeom>
          <a:noFill/>
          <a:ln/>
        </p:spPr>
        <p:txBody>
          <a:bodyPr wrap="square" rtlCol="0" anchor="ctr"/>
          <a:lstStyle/>
          <a:p>
            <a:pPr indent="0" marL="0">
              <a:buNone/>
            </a:pPr>
            <a:r>
              <a:rPr lang="en-US" sz="3200" b="1" dirty="0">
                <a:solidFill>
                  <a:srgbClr val="0B5394"/>
                </a:solidFill>
                <a:latin typeface="Calibri" pitchFamily="34" charset="0"/>
                <a:ea typeface="Calibri" pitchFamily="34" charset="-122"/>
                <a:cs typeface="Calibri" pitchFamily="34" charset="-120"/>
              </a:rPr>
              <a:t>58,84%</a:t>
            </a:r>
            <a:endParaRPr lang="en-US" sz="3200" dirty="0"/>
          </a:p>
        </p:txBody>
      </p:sp>
      <p:sp>
        <p:nvSpPr>
          <p:cNvPr id="19" name="Text 17"/>
          <p:cNvSpPr/>
          <p:nvPr/>
        </p:nvSpPr>
        <p:spPr>
          <a:xfrm>
            <a:off x="8386877" y="292608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Rétention</a:t>
            </a:r>
            <a:endParaRPr lang="en-US" sz="1200" dirty="0"/>
          </a:p>
        </p:txBody>
      </p:sp>
      <p:sp>
        <p:nvSpPr>
          <p:cNvPr id="20" name="Shape 18"/>
          <p:cNvSpPr/>
          <p:nvPr/>
        </p:nvSpPr>
        <p:spPr>
          <a:xfrm>
            <a:off x="457200" y="3840480"/>
            <a:ext cx="2716454" cy="2194560"/>
          </a:xfrm>
          <a:prstGeom prst="roundRect">
            <a:avLst>
              <a:gd name="adj" fmla="val 4167"/>
            </a:avLst>
          </a:prstGeom>
          <a:solidFill>
            <a:srgbClr val="EAEFF6"/>
          </a:solidFill>
          <a:ln w="19050">
            <a:solidFill>
              <a:srgbClr val="B7C3D5"/>
            </a:solidFill>
            <a:prstDash val="dash"/>
          </a:ln>
        </p:spPr>
      </p:sp>
      <p:sp>
        <p:nvSpPr>
          <p:cNvPr id="21" name="Text 19"/>
          <p:cNvSpPr/>
          <p:nvPr/>
        </p:nvSpPr>
        <p:spPr>
          <a:xfrm>
            <a:off x="457200" y="3840480"/>
            <a:ext cx="2716454" cy="2194560"/>
          </a:xfrm>
          <a:prstGeom prst="rect">
            <a:avLst/>
          </a:prstGeom>
          <a:noFill/>
          <a:ln/>
        </p:spPr>
        <p:txBody>
          <a:bodyPr wrap="square" rtlCol="0" anchor="ctr"/>
          <a:lstStyle/>
          <a:p>
            <a:pPr algn="ctr" indent="0" marL="0">
              <a:buNone/>
            </a:pPr>
            <a:r>
              <a:rPr lang="en-US" sz="1300" b="1" i="1" dirty="0">
                <a:solidFill>
                  <a:srgbClr val="073763"/>
                </a:solidFill>
                <a:latin typeface="Calibri" pitchFamily="34" charset="0"/>
                <a:ea typeface="Calibri" pitchFamily="34" charset="-122"/>
                <a:cs typeface="Calibri" pitchFamily="34" charset="-120"/>
              </a:rPr>
              <a:t>[Vue d'ensemble]</a:t>
            </a:r>
            <a:endParaRPr lang="en-US" sz="1300" dirty="0"/>
          </a:p>
        </p:txBody>
      </p:sp>
      <p:sp>
        <p:nvSpPr>
          <p:cNvPr id="22" name="Shape 20"/>
          <p:cNvSpPr/>
          <p:nvPr/>
        </p:nvSpPr>
        <p:spPr>
          <a:xfrm>
            <a:off x="3310814" y="3840480"/>
            <a:ext cx="2716454" cy="2194560"/>
          </a:xfrm>
          <a:prstGeom prst="roundRect">
            <a:avLst>
              <a:gd name="adj" fmla="val 4167"/>
            </a:avLst>
          </a:prstGeom>
          <a:solidFill>
            <a:srgbClr val="EAEFF6"/>
          </a:solidFill>
          <a:ln w="19050">
            <a:solidFill>
              <a:srgbClr val="B7C3D5"/>
            </a:solidFill>
            <a:prstDash val="dash"/>
          </a:ln>
        </p:spPr>
      </p:sp>
      <p:sp>
        <p:nvSpPr>
          <p:cNvPr id="23" name="Text 21"/>
          <p:cNvSpPr/>
          <p:nvPr/>
        </p:nvSpPr>
        <p:spPr>
          <a:xfrm>
            <a:off x="3310814" y="3840480"/>
            <a:ext cx="2716454" cy="2194560"/>
          </a:xfrm>
          <a:prstGeom prst="rect">
            <a:avLst/>
          </a:prstGeom>
          <a:noFill/>
          <a:ln/>
        </p:spPr>
        <p:txBody>
          <a:bodyPr wrap="square" rtlCol="0" anchor="ctr"/>
          <a:lstStyle/>
          <a:p>
            <a:pPr algn="ctr" indent="0" marL="0">
              <a:buNone/>
            </a:pPr>
            <a:r>
              <a:rPr lang="en-US" sz="1300" b="1" i="1" dirty="0">
                <a:solidFill>
                  <a:srgbClr val="073763"/>
                </a:solidFill>
                <a:latin typeface="Calibri" pitchFamily="34" charset="0"/>
                <a:ea typeface="Calibri" pitchFamily="34" charset="-122"/>
                <a:cs typeface="Calibri" pitchFamily="34" charset="-120"/>
              </a:rPr>
              <a:t>[Analyse profil client]</a:t>
            </a:r>
            <a:endParaRPr lang="en-US" sz="1300" dirty="0"/>
          </a:p>
        </p:txBody>
      </p:sp>
      <p:sp>
        <p:nvSpPr>
          <p:cNvPr id="24" name="Shape 22"/>
          <p:cNvSpPr/>
          <p:nvPr/>
        </p:nvSpPr>
        <p:spPr>
          <a:xfrm>
            <a:off x="6164428" y="3840480"/>
            <a:ext cx="2716454" cy="2194560"/>
          </a:xfrm>
          <a:prstGeom prst="roundRect">
            <a:avLst>
              <a:gd name="adj" fmla="val 4167"/>
            </a:avLst>
          </a:prstGeom>
          <a:solidFill>
            <a:srgbClr val="EAEFF6"/>
          </a:solidFill>
          <a:ln w="19050">
            <a:solidFill>
              <a:srgbClr val="B7C3D5"/>
            </a:solidFill>
            <a:prstDash val="dash"/>
          </a:ln>
        </p:spPr>
      </p:sp>
      <p:sp>
        <p:nvSpPr>
          <p:cNvPr id="25" name="Text 23"/>
          <p:cNvSpPr/>
          <p:nvPr/>
        </p:nvSpPr>
        <p:spPr>
          <a:xfrm>
            <a:off x="6164428" y="3840480"/>
            <a:ext cx="2716454" cy="2194560"/>
          </a:xfrm>
          <a:prstGeom prst="rect">
            <a:avLst/>
          </a:prstGeom>
          <a:noFill/>
          <a:ln/>
        </p:spPr>
        <p:txBody>
          <a:bodyPr wrap="square" rtlCol="0" anchor="ctr"/>
          <a:lstStyle/>
          <a:p>
            <a:pPr algn="ctr" indent="0" marL="0">
              <a:buNone/>
            </a:pPr>
            <a:r>
              <a:rPr lang="en-US" sz="1300" b="1" i="1" dirty="0">
                <a:solidFill>
                  <a:srgbClr val="073763"/>
                </a:solidFill>
                <a:latin typeface="Calibri" pitchFamily="34" charset="0"/>
                <a:ea typeface="Calibri" pitchFamily="34" charset="-122"/>
                <a:cs typeface="Calibri" pitchFamily="34" charset="-120"/>
              </a:rPr>
              <a:t>[Produit &amp; risque]</a:t>
            </a:r>
            <a:endParaRPr lang="en-US" sz="1300" dirty="0"/>
          </a:p>
        </p:txBody>
      </p:sp>
      <p:sp>
        <p:nvSpPr>
          <p:cNvPr id="26" name="Shape 24"/>
          <p:cNvSpPr/>
          <p:nvPr/>
        </p:nvSpPr>
        <p:spPr>
          <a:xfrm>
            <a:off x="9018041" y="3840480"/>
            <a:ext cx="2716454" cy="2194560"/>
          </a:xfrm>
          <a:prstGeom prst="roundRect">
            <a:avLst>
              <a:gd name="adj" fmla="val 4167"/>
            </a:avLst>
          </a:prstGeom>
          <a:solidFill>
            <a:srgbClr val="EAEFF6"/>
          </a:solidFill>
          <a:ln w="19050">
            <a:solidFill>
              <a:srgbClr val="B7C3D5"/>
            </a:solidFill>
            <a:prstDash val="dash"/>
          </a:ln>
        </p:spPr>
      </p:sp>
      <p:sp>
        <p:nvSpPr>
          <p:cNvPr id="27" name="Text 25"/>
          <p:cNvSpPr/>
          <p:nvPr/>
        </p:nvSpPr>
        <p:spPr>
          <a:xfrm>
            <a:off x="9018041" y="3840480"/>
            <a:ext cx="2716454" cy="2194560"/>
          </a:xfrm>
          <a:prstGeom prst="rect">
            <a:avLst/>
          </a:prstGeom>
          <a:noFill/>
          <a:ln/>
        </p:spPr>
        <p:txBody>
          <a:bodyPr wrap="square" rtlCol="0" anchor="ctr"/>
          <a:lstStyle/>
          <a:p>
            <a:pPr algn="ctr" indent="0" marL="0">
              <a:buNone/>
            </a:pPr>
            <a:r>
              <a:rPr lang="en-US" sz="1300" b="1" i="1" dirty="0">
                <a:solidFill>
                  <a:srgbClr val="073763"/>
                </a:solidFill>
                <a:latin typeface="Calibri" pitchFamily="34" charset="0"/>
                <a:ea typeface="Calibri" pitchFamily="34" charset="-122"/>
                <a:cs typeface="Calibri" pitchFamily="34" charset="-120"/>
              </a:rPr>
              <a:t>[Décomposition VaR]</a:t>
            </a:r>
            <a:endParaRPr lang="en-US" sz="1300" dirty="0"/>
          </a:p>
        </p:txBody>
      </p:sp>
      <p:sp>
        <p:nvSpPr>
          <p:cNvPr id="28" name="Text 26"/>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29" name="Text 27"/>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Machine Learning</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08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SÉLECTION DU MODÈLE</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XGBoost, propre et vérifié.</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6858000" cy="914400"/>
        </p:xfrm>
        <a:graphic>
          <a:graphicData uri="http://schemas.openxmlformats.org/drawingml/2006/table">
            <a:tbl>
              <a:tblPr/>
              <a:tblGrid>
                <a:gridCol w="3657600"/>
                <a:gridCol w="1600200"/>
                <a:gridCol w="1600200"/>
              </a:tblGrid>
              <a:tr h="384048">
                <a:tc>
                  <a:txBody>
                    <a:bodyPr/>
                    <a:lstStyle/>
                    <a:p>
                      <a:pPr indent="0" marL="0">
                        <a:buNone/>
                      </a:pPr>
                      <a:r>
                        <a:rPr lang="en-US" sz="1300" b="1" dirty="0">
                          <a:solidFill>
                            <a:srgbClr val="073763"/>
                          </a:solidFill>
                          <a:latin typeface="Calibri" pitchFamily="34" charset="0"/>
                          <a:ea typeface="Calibri" pitchFamily="34" charset="-122"/>
                          <a:cs typeface="Calibri" pitchFamily="34" charset="-120"/>
                        </a:rPr>
                        <a:t>Modèle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73763"/>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73763"/>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Régression logistique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0,74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Arbre de décision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0,83</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0,91</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0,96</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SVM</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4213D"/>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073763"/>
                          </a:solidFill>
                          <a:latin typeface="Calibri" pitchFamily="34" charset="0"/>
                          <a:ea typeface="Calibri" pitchFamily="34" charset="-122"/>
                          <a:cs typeface="Calibri" pitchFamily="34" charset="-120"/>
                        </a:rPr>
                        <a:t>★ XGBoost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6"/>
                    </a:solidFill>
                  </a:tcPr>
                </a:tc>
                <a:tc>
                  <a:txBody>
                    <a:bodyPr/>
                    <a:lstStyle/>
                    <a:p>
                      <a:pPr algn="r" indent="0" marL="0">
                        <a:buNone/>
                      </a:pPr>
                      <a:r>
                        <a:rPr lang="en-US" sz="1300" b="1" dirty="0">
                          <a:solidFill>
                            <a:srgbClr val="073763"/>
                          </a:solidFill>
                          <a:latin typeface="Calibri" pitchFamily="34" charset="0"/>
                          <a:ea typeface="Calibri" pitchFamily="34" charset="-122"/>
                          <a:cs typeface="Calibri" pitchFamily="34" charset="-120"/>
                        </a:rPr>
                        <a:t>0,9465</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6"/>
                    </a:solidFill>
                  </a:tcPr>
                </a:tc>
                <a:tc>
                  <a:txBody>
                    <a:bodyPr/>
                    <a:lstStyle/>
                    <a:p>
                      <a:pPr algn="r" indent="0" marL="0">
                        <a:buNone/>
                      </a:pPr>
                      <a:r>
                        <a:rPr lang="en-US" sz="1300" b="1" dirty="0">
                          <a:solidFill>
                            <a:srgbClr val="073763"/>
                          </a:solidFill>
                          <a:latin typeface="Calibri" pitchFamily="34" charset="0"/>
                          <a:ea typeface="Calibri" pitchFamily="34" charset="-122"/>
                          <a:cs typeface="Calibri" pitchFamily="34" charset="-120"/>
                        </a:rPr>
                        <a:t>0,9823</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6"/>
                    </a:solidFill>
                  </a:tcPr>
                </a:tc>
              </a:tr>
            </a:tbl>
          </a:graphicData>
        </a:graphic>
      </p:graphicFrame>
      <p:sp>
        <p:nvSpPr>
          <p:cNvPr id="12" name="Shape 9"/>
          <p:cNvSpPr/>
          <p:nvPr/>
        </p:nvSpPr>
        <p:spPr>
          <a:xfrm>
            <a:off x="7680960" y="2468880"/>
            <a:ext cx="4023360" cy="3657600"/>
          </a:xfrm>
          <a:prstGeom prst="roundRect">
            <a:avLst>
              <a:gd name="adj" fmla="val 3750"/>
            </a:avLst>
          </a:prstGeom>
          <a:solidFill>
            <a:srgbClr val="FFF3F4"/>
          </a:solidFill>
          <a:ln w="12700">
            <a:solidFill>
              <a:srgbClr val="F5C7CD"/>
            </a:solidFill>
            <a:prstDash val="solid"/>
          </a:ln>
        </p:spPr>
      </p:sp>
      <p:sp>
        <p:nvSpPr>
          <p:cNvPr id="13" name="Text 10"/>
          <p:cNvSpPr/>
          <p:nvPr/>
        </p:nvSpPr>
        <p:spPr>
          <a:xfrm>
            <a:off x="7863840" y="2697480"/>
            <a:ext cx="3657600" cy="320040"/>
          </a:xfrm>
          <a:prstGeom prst="rect">
            <a:avLst/>
          </a:prstGeom>
          <a:noFill/>
          <a:ln/>
        </p:spPr>
        <p:txBody>
          <a:bodyPr wrap="square" rtlCol="0" anchor="ctr"/>
          <a:lstStyle/>
          <a:p>
            <a:pPr indent="0" marL="0">
              <a:buNone/>
            </a:pPr>
            <a:r>
              <a:rPr lang="en-US" sz="1100" b="1" spc="300" kern="0" dirty="0">
                <a:solidFill>
                  <a:srgbClr val="C8102E"/>
                </a:solidFill>
                <a:latin typeface="Calibri" pitchFamily="34" charset="0"/>
                <a:ea typeface="Calibri" pitchFamily="34" charset="-122"/>
                <a:cs typeface="Calibri" pitchFamily="34" charset="-120"/>
              </a:rPr>
              <a:t>FUITE DE DONNÉES DÉTECTÉE</a:t>
            </a:r>
            <a:endParaRPr lang="en-US" sz="1100" dirty="0"/>
          </a:p>
        </p:txBody>
      </p:sp>
      <p:sp>
        <p:nvSpPr>
          <p:cNvPr id="14" name="Text 11"/>
          <p:cNvSpPr/>
          <p:nvPr/>
        </p:nvSpPr>
        <p:spPr>
          <a:xfrm>
            <a:off x="7863840" y="3108960"/>
            <a:ext cx="3657600" cy="2103120"/>
          </a:xfrm>
          <a:prstGeom prst="rect">
            <a:avLst/>
          </a:prstGeom>
          <a:noFill/>
          <a:ln/>
        </p:spPr>
        <p:txBody>
          <a:bodyPr wrap="square" rtlCol="0" anchor="ctr"/>
          <a:lstStyle/>
          <a:p>
            <a:pPr indent="0" marL="0">
              <a:buNone/>
            </a:pPr>
            <a:r>
              <a:rPr lang="en-US" sz="2200" b="1" dirty="0">
                <a:solidFill>
                  <a:srgbClr val="14213D"/>
                </a:solidFill>
                <a:latin typeface="Calibri" pitchFamily="34" charset="0"/>
                <a:ea typeface="Calibri" pitchFamily="34" charset="-122"/>
                <a:cs typeface="Calibri" pitchFamily="34" charset="-120"/>
              </a:rPr>
              <a:t>Une variable artefact concentrait </a:t>
            </a:r>
            <a:pPr indent="0" marL="0">
              <a:buNone/>
            </a:pPr>
            <a:r>
              <a:rPr lang="en-US" sz="2200" b="1" dirty="0">
                <a:solidFill>
                  <a:srgbClr val="C8102E"/>
                </a:solidFill>
                <a:latin typeface="Calibri" pitchFamily="34" charset="0"/>
                <a:ea typeface="Calibri" pitchFamily="34" charset="-122"/>
                <a:cs typeface="Calibri" pitchFamily="34" charset="-120"/>
              </a:rPr>
              <a:t>89,5%</a:t>
            </a:r>
            <a:pPr indent="0" marL="0">
              <a:buNone/>
            </a:pPr>
            <a:r>
              <a:rPr lang="en-US" sz="2200" b="1" dirty="0">
                <a:solidFill>
                  <a:srgbClr val="14213D"/>
                </a:solidFill>
                <a:latin typeface="Calibri" pitchFamily="34" charset="0"/>
                <a:ea typeface="Calibri" pitchFamily="34" charset="-122"/>
                <a:cs typeface="Calibri" pitchFamily="34" charset="-120"/>
              </a:rPr>
              <a:t> d'importance.</a:t>
            </a:r>
            <a:endParaRPr lang="en-US" sz="2200" dirty="0"/>
          </a:p>
        </p:txBody>
      </p:sp>
      <p:sp>
        <p:nvSpPr>
          <p:cNvPr id="15" name="Text 12"/>
          <p:cNvSpPr/>
          <p:nvPr/>
        </p:nvSpPr>
        <p:spPr>
          <a:xfrm>
            <a:off x="7863840" y="5394960"/>
            <a:ext cx="3657600" cy="54864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Retirée, modèle réentraîné, métriques honnêtes.</a:t>
            </a:r>
            <a:endParaRPr lang="en-US" sz="1300" dirty="0"/>
          </a:p>
        </p:txBody>
      </p:sp>
      <p:sp>
        <p:nvSpPr>
          <p:cNvPr id="16" name="Text 1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17" name="Text 14"/>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Datamining</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09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NON SUPERVISÉ</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Segmenter et repérer l'atypique.</a:t>
            </a:r>
            <a:endParaRPr lang="en-US" sz="3600" dirty="0"/>
          </a:p>
        </p:txBody>
      </p:sp>
      <p:sp>
        <p:nvSpPr>
          <p:cNvPr id="11" name="Shape 9"/>
          <p:cNvSpPr/>
          <p:nvPr/>
        </p:nvSpPr>
        <p:spPr>
          <a:xfrm>
            <a:off x="457200" y="2560320"/>
            <a:ext cx="3576218" cy="3474720"/>
          </a:xfrm>
          <a:prstGeom prst="roundRect">
            <a:avLst>
              <a:gd name="adj" fmla="val 3158"/>
            </a:avLst>
          </a:prstGeom>
          <a:solidFill>
            <a:srgbClr val="FFFFFF"/>
          </a:solidFill>
          <a:ln w="12700">
            <a:solidFill>
              <a:srgbClr val="E2E8F0"/>
            </a:solidFill>
            <a:prstDash val="solid"/>
          </a:ln>
        </p:spPr>
      </p:sp>
      <p:sp>
        <p:nvSpPr>
          <p:cNvPr id="12" name="Text 10"/>
          <p:cNvSpPr/>
          <p:nvPr/>
        </p:nvSpPr>
        <p:spPr>
          <a:xfrm>
            <a:off x="685800" y="2743200"/>
            <a:ext cx="3119018" cy="274320"/>
          </a:xfrm>
          <a:prstGeom prst="rect">
            <a:avLst/>
          </a:prstGeom>
          <a:noFill/>
          <a:ln/>
        </p:spPr>
        <p:txBody>
          <a:bodyPr wrap="square" rtlCol="0" anchor="ctr"/>
          <a:lstStyle/>
          <a:p>
            <a:pPr indent="0" marL="0">
              <a:buNone/>
            </a:pPr>
            <a:r>
              <a:rPr lang="en-US" sz="1000" b="1" spc="300" kern="0" dirty="0">
                <a:solidFill>
                  <a:srgbClr val="0B5394"/>
                </a:solidFill>
                <a:latin typeface="Calibri" pitchFamily="34" charset="0"/>
                <a:ea typeface="Calibri" pitchFamily="34" charset="-122"/>
                <a:cs typeface="Calibri" pitchFamily="34" charset="-120"/>
              </a:rPr>
              <a:t>ACP</a:t>
            </a:r>
            <a:endParaRPr lang="en-US" sz="1000" dirty="0"/>
          </a:p>
        </p:txBody>
      </p:sp>
      <p:sp>
        <p:nvSpPr>
          <p:cNvPr id="13" name="Text 11"/>
          <p:cNvSpPr/>
          <p:nvPr/>
        </p:nvSpPr>
        <p:spPr>
          <a:xfrm>
            <a:off x="685800" y="3063240"/>
            <a:ext cx="3119018" cy="1911096"/>
          </a:xfrm>
          <a:prstGeom prst="rect">
            <a:avLst/>
          </a:prstGeom>
          <a:noFill/>
          <a:ln/>
        </p:spPr>
        <p:txBody>
          <a:bodyPr wrap="square" rtlCol="0" anchor="ctr"/>
          <a:lstStyle/>
          <a:p>
            <a:pPr indent="0" marL="0">
              <a:buNone/>
            </a:pPr>
            <a:r>
              <a:rPr lang="en-US" sz="4400" b="1" dirty="0">
                <a:solidFill>
                  <a:srgbClr val="0B5394"/>
                </a:solidFill>
                <a:latin typeface="Calibri" pitchFamily="34" charset="0"/>
                <a:ea typeface="Calibri" pitchFamily="34" charset="-122"/>
                <a:cs typeface="Calibri" pitchFamily="34" charset="-120"/>
              </a:rPr>
              <a:t>54,46%</a:t>
            </a:r>
            <a:endParaRPr lang="en-US" sz="4400" dirty="0"/>
          </a:p>
        </p:txBody>
      </p:sp>
      <p:sp>
        <p:nvSpPr>
          <p:cNvPr id="14" name="Text 12"/>
          <p:cNvSpPr/>
          <p:nvPr/>
        </p:nvSpPr>
        <p:spPr>
          <a:xfrm>
            <a:off x="685800" y="5349240"/>
            <a:ext cx="3119018" cy="54864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de variance expliquée sur 2 composantes</a:t>
            </a:r>
            <a:endParaRPr lang="en-US" sz="1200" dirty="0"/>
          </a:p>
        </p:txBody>
      </p:sp>
      <p:sp>
        <p:nvSpPr>
          <p:cNvPr id="15" name="Shape 13"/>
          <p:cNvSpPr/>
          <p:nvPr/>
        </p:nvSpPr>
        <p:spPr>
          <a:xfrm>
            <a:off x="4307738" y="2560320"/>
            <a:ext cx="3576218" cy="3474720"/>
          </a:xfrm>
          <a:prstGeom prst="roundRect">
            <a:avLst>
              <a:gd name="adj" fmla="val 3158"/>
            </a:avLst>
          </a:prstGeom>
          <a:solidFill>
            <a:srgbClr val="FFFFFF"/>
          </a:solidFill>
          <a:ln w="12700">
            <a:solidFill>
              <a:srgbClr val="E2E8F0"/>
            </a:solidFill>
            <a:prstDash val="solid"/>
          </a:ln>
        </p:spPr>
      </p:sp>
      <p:sp>
        <p:nvSpPr>
          <p:cNvPr id="16" name="Text 14"/>
          <p:cNvSpPr/>
          <p:nvPr/>
        </p:nvSpPr>
        <p:spPr>
          <a:xfrm>
            <a:off x="4536338" y="2743200"/>
            <a:ext cx="3119018" cy="320040"/>
          </a:xfrm>
          <a:prstGeom prst="rect">
            <a:avLst/>
          </a:prstGeom>
          <a:noFill/>
          <a:ln/>
        </p:spPr>
        <p:txBody>
          <a:bodyPr wrap="square" rtlCol="0" anchor="ctr"/>
          <a:lstStyle/>
          <a:p>
            <a:pPr indent="0" marL="0">
              <a:buNone/>
            </a:pPr>
            <a:r>
              <a:rPr lang="en-US" sz="1100" b="1" spc="300" kern="0" dirty="0">
                <a:solidFill>
                  <a:srgbClr val="0B5394"/>
                </a:solidFill>
                <a:latin typeface="Calibri" pitchFamily="34" charset="0"/>
                <a:ea typeface="Calibri" pitchFamily="34" charset="-122"/>
                <a:cs typeface="Calibri" pitchFamily="34" charset="-120"/>
              </a:rPr>
              <a:t>K-MEANS · 4 SEGMENTS</a:t>
            </a:r>
            <a:endParaRPr lang="en-US" sz="1100" dirty="0"/>
          </a:p>
        </p:txBody>
      </p:sp>
      <p:sp>
        <p:nvSpPr>
          <p:cNvPr id="17" name="Text 15"/>
          <p:cNvSpPr/>
          <p:nvPr/>
        </p:nvSpPr>
        <p:spPr>
          <a:xfrm>
            <a:off x="4536338" y="3246120"/>
            <a:ext cx="1715460" cy="27432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Segment 1</a:t>
            </a:r>
            <a:endParaRPr lang="en-US" sz="1200" dirty="0"/>
          </a:p>
        </p:txBody>
      </p:sp>
      <p:sp>
        <p:nvSpPr>
          <p:cNvPr id="18" name="Text 16"/>
          <p:cNvSpPr/>
          <p:nvPr/>
        </p:nvSpPr>
        <p:spPr>
          <a:xfrm>
            <a:off x="6251799" y="3246120"/>
            <a:ext cx="1403558" cy="274320"/>
          </a:xfrm>
          <a:prstGeom prst="rect">
            <a:avLst/>
          </a:prstGeom>
          <a:noFill/>
          <a:ln/>
        </p:spPr>
        <p:txBody>
          <a:bodyPr wrap="square" rtlCol="0" anchor="ctr"/>
          <a:lstStyle/>
          <a:p>
            <a:pPr algn="r" indent="0" marL="0">
              <a:buNone/>
            </a:pPr>
            <a:r>
              <a:rPr lang="en-US" sz="1200" b="1" dirty="0">
                <a:solidFill>
                  <a:srgbClr val="073763"/>
                </a:solidFill>
                <a:latin typeface="Calibri" pitchFamily="34" charset="0"/>
                <a:ea typeface="Calibri" pitchFamily="34" charset="-122"/>
                <a:cs typeface="Calibri" pitchFamily="34" charset="-120"/>
              </a:rPr>
              <a:t>170 899</a:t>
            </a:r>
            <a:endParaRPr lang="en-US" sz="1200" dirty="0"/>
          </a:p>
        </p:txBody>
      </p:sp>
      <p:sp>
        <p:nvSpPr>
          <p:cNvPr id="19" name="Shape 17"/>
          <p:cNvSpPr/>
          <p:nvPr/>
        </p:nvSpPr>
        <p:spPr>
          <a:xfrm>
            <a:off x="4536338" y="3557016"/>
            <a:ext cx="3119018" cy="128016"/>
          </a:xfrm>
          <a:prstGeom prst="roundRect">
            <a:avLst>
              <a:gd name="adj" fmla="val 50000"/>
            </a:avLst>
          </a:prstGeom>
          <a:solidFill>
            <a:srgbClr val="F4F6F9"/>
          </a:solidFill>
          <a:ln w="12700">
            <a:solidFill>
              <a:srgbClr val="F4F6F9"/>
            </a:solidFill>
            <a:prstDash val="solid"/>
          </a:ln>
        </p:spPr>
      </p:sp>
      <p:sp>
        <p:nvSpPr>
          <p:cNvPr id="20" name="Shape 18"/>
          <p:cNvSpPr/>
          <p:nvPr/>
        </p:nvSpPr>
        <p:spPr>
          <a:xfrm>
            <a:off x="4536338" y="3557016"/>
            <a:ext cx="3119018" cy="128016"/>
          </a:xfrm>
          <a:prstGeom prst="roundRect">
            <a:avLst>
              <a:gd name="adj" fmla="val 50000"/>
            </a:avLst>
          </a:prstGeom>
          <a:solidFill>
            <a:srgbClr val="0B5394"/>
          </a:solidFill>
          <a:ln w="12700">
            <a:solidFill>
              <a:srgbClr val="0B5394"/>
            </a:solidFill>
            <a:prstDash val="solid"/>
          </a:ln>
        </p:spPr>
      </p:sp>
      <p:sp>
        <p:nvSpPr>
          <p:cNvPr id="21" name="Text 19"/>
          <p:cNvSpPr/>
          <p:nvPr/>
        </p:nvSpPr>
        <p:spPr>
          <a:xfrm>
            <a:off x="4536338" y="3904488"/>
            <a:ext cx="1715460" cy="27432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Segment 2</a:t>
            </a:r>
            <a:endParaRPr lang="en-US" sz="1200" dirty="0"/>
          </a:p>
        </p:txBody>
      </p:sp>
      <p:sp>
        <p:nvSpPr>
          <p:cNvPr id="22" name="Text 20"/>
          <p:cNvSpPr/>
          <p:nvPr/>
        </p:nvSpPr>
        <p:spPr>
          <a:xfrm>
            <a:off x="6251799" y="3904488"/>
            <a:ext cx="1403558" cy="274320"/>
          </a:xfrm>
          <a:prstGeom prst="rect">
            <a:avLst/>
          </a:prstGeom>
          <a:noFill/>
          <a:ln/>
        </p:spPr>
        <p:txBody>
          <a:bodyPr wrap="square" rtlCol="0" anchor="ctr"/>
          <a:lstStyle/>
          <a:p>
            <a:pPr algn="r" indent="0" marL="0">
              <a:buNone/>
            </a:pPr>
            <a:r>
              <a:rPr lang="en-US" sz="1200" b="1" dirty="0">
                <a:solidFill>
                  <a:srgbClr val="073763"/>
                </a:solidFill>
                <a:latin typeface="Calibri" pitchFamily="34" charset="0"/>
                <a:ea typeface="Calibri" pitchFamily="34" charset="-122"/>
                <a:cs typeface="Calibri" pitchFamily="34" charset="-120"/>
              </a:rPr>
              <a:t>125 603</a:t>
            </a:r>
            <a:endParaRPr lang="en-US" sz="1200" dirty="0"/>
          </a:p>
        </p:txBody>
      </p:sp>
      <p:sp>
        <p:nvSpPr>
          <p:cNvPr id="23" name="Shape 21"/>
          <p:cNvSpPr/>
          <p:nvPr/>
        </p:nvSpPr>
        <p:spPr>
          <a:xfrm>
            <a:off x="4536338" y="4215384"/>
            <a:ext cx="3119018" cy="128016"/>
          </a:xfrm>
          <a:prstGeom prst="roundRect">
            <a:avLst>
              <a:gd name="adj" fmla="val 50000"/>
            </a:avLst>
          </a:prstGeom>
          <a:solidFill>
            <a:srgbClr val="F4F6F9"/>
          </a:solidFill>
          <a:ln w="12700">
            <a:solidFill>
              <a:srgbClr val="F4F6F9"/>
            </a:solidFill>
            <a:prstDash val="solid"/>
          </a:ln>
        </p:spPr>
      </p:sp>
      <p:sp>
        <p:nvSpPr>
          <p:cNvPr id="24" name="Shape 22"/>
          <p:cNvSpPr/>
          <p:nvPr/>
        </p:nvSpPr>
        <p:spPr>
          <a:xfrm>
            <a:off x="4536338" y="4215384"/>
            <a:ext cx="2308074" cy="128016"/>
          </a:xfrm>
          <a:prstGeom prst="roundRect">
            <a:avLst>
              <a:gd name="adj" fmla="val 50000"/>
            </a:avLst>
          </a:prstGeom>
          <a:solidFill>
            <a:srgbClr val="0B5394"/>
          </a:solidFill>
          <a:ln w="12700">
            <a:solidFill>
              <a:srgbClr val="0B5394"/>
            </a:solidFill>
            <a:prstDash val="solid"/>
          </a:ln>
        </p:spPr>
      </p:sp>
      <p:sp>
        <p:nvSpPr>
          <p:cNvPr id="25" name="Text 23"/>
          <p:cNvSpPr/>
          <p:nvPr/>
        </p:nvSpPr>
        <p:spPr>
          <a:xfrm>
            <a:off x="4536338" y="4562856"/>
            <a:ext cx="1715460" cy="27432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Segment 3</a:t>
            </a:r>
            <a:endParaRPr lang="en-US" sz="1200" dirty="0"/>
          </a:p>
        </p:txBody>
      </p:sp>
      <p:sp>
        <p:nvSpPr>
          <p:cNvPr id="26" name="Text 24"/>
          <p:cNvSpPr/>
          <p:nvPr/>
        </p:nvSpPr>
        <p:spPr>
          <a:xfrm>
            <a:off x="6251799" y="4562856"/>
            <a:ext cx="1403558" cy="274320"/>
          </a:xfrm>
          <a:prstGeom prst="rect">
            <a:avLst/>
          </a:prstGeom>
          <a:noFill/>
          <a:ln/>
        </p:spPr>
        <p:txBody>
          <a:bodyPr wrap="square" rtlCol="0" anchor="ctr"/>
          <a:lstStyle/>
          <a:p>
            <a:pPr algn="r" indent="0" marL="0">
              <a:buNone/>
            </a:pPr>
            <a:r>
              <a:rPr lang="en-US" sz="1200" b="1" dirty="0">
                <a:solidFill>
                  <a:srgbClr val="073763"/>
                </a:solidFill>
                <a:latin typeface="Calibri" pitchFamily="34" charset="0"/>
                <a:ea typeface="Calibri" pitchFamily="34" charset="-122"/>
                <a:cs typeface="Calibri" pitchFamily="34" charset="-120"/>
              </a:rPr>
              <a:t>22 615</a:t>
            </a:r>
            <a:endParaRPr lang="en-US" sz="1200" dirty="0"/>
          </a:p>
        </p:txBody>
      </p:sp>
      <p:sp>
        <p:nvSpPr>
          <p:cNvPr id="27" name="Shape 25"/>
          <p:cNvSpPr/>
          <p:nvPr/>
        </p:nvSpPr>
        <p:spPr>
          <a:xfrm>
            <a:off x="4536338" y="4873752"/>
            <a:ext cx="3119018" cy="128016"/>
          </a:xfrm>
          <a:prstGeom prst="roundRect">
            <a:avLst>
              <a:gd name="adj" fmla="val 50000"/>
            </a:avLst>
          </a:prstGeom>
          <a:solidFill>
            <a:srgbClr val="F4F6F9"/>
          </a:solidFill>
          <a:ln w="12700">
            <a:solidFill>
              <a:srgbClr val="F4F6F9"/>
            </a:solidFill>
            <a:prstDash val="solid"/>
          </a:ln>
        </p:spPr>
      </p:sp>
      <p:sp>
        <p:nvSpPr>
          <p:cNvPr id="28" name="Shape 26"/>
          <p:cNvSpPr/>
          <p:nvPr/>
        </p:nvSpPr>
        <p:spPr>
          <a:xfrm>
            <a:off x="4536338" y="4873752"/>
            <a:ext cx="436663" cy="128016"/>
          </a:xfrm>
          <a:prstGeom prst="roundRect">
            <a:avLst>
              <a:gd name="adj" fmla="val 50000"/>
            </a:avLst>
          </a:prstGeom>
          <a:solidFill>
            <a:srgbClr val="0B5394"/>
          </a:solidFill>
          <a:ln w="12700">
            <a:solidFill>
              <a:srgbClr val="0B5394"/>
            </a:solidFill>
            <a:prstDash val="solid"/>
          </a:ln>
        </p:spPr>
      </p:sp>
      <p:sp>
        <p:nvSpPr>
          <p:cNvPr id="29" name="Text 27"/>
          <p:cNvSpPr/>
          <p:nvPr/>
        </p:nvSpPr>
        <p:spPr>
          <a:xfrm>
            <a:off x="4536338" y="5221224"/>
            <a:ext cx="1715460" cy="274320"/>
          </a:xfrm>
          <a:prstGeom prst="rect">
            <a:avLst/>
          </a:prstGeom>
          <a:noFill/>
          <a:ln/>
        </p:spPr>
        <p:txBody>
          <a:bodyPr wrap="square" rtlCol="0" anchor="ctr"/>
          <a:lstStyle/>
          <a:p>
            <a:pPr indent="0" marL="0">
              <a:buNone/>
            </a:pPr>
            <a:r>
              <a:rPr lang="en-US" sz="1200" dirty="0">
                <a:solidFill>
                  <a:srgbClr val="4A5568"/>
                </a:solidFill>
                <a:latin typeface="Calibri" pitchFamily="34" charset="0"/>
                <a:ea typeface="Calibri" pitchFamily="34" charset="-122"/>
                <a:cs typeface="Calibri" pitchFamily="34" charset="-120"/>
              </a:rPr>
              <a:t>Segment 4</a:t>
            </a:r>
            <a:endParaRPr lang="en-US" sz="1200" dirty="0"/>
          </a:p>
        </p:txBody>
      </p:sp>
      <p:sp>
        <p:nvSpPr>
          <p:cNvPr id="30" name="Text 28"/>
          <p:cNvSpPr/>
          <p:nvPr/>
        </p:nvSpPr>
        <p:spPr>
          <a:xfrm>
            <a:off x="6251799" y="5221224"/>
            <a:ext cx="1403558" cy="274320"/>
          </a:xfrm>
          <a:prstGeom prst="rect">
            <a:avLst/>
          </a:prstGeom>
          <a:noFill/>
          <a:ln/>
        </p:spPr>
        <p:txBody>
          <a:bodyPr wrap="square" rtlCol="0" anchor="ctr"/>
          <a:lstStyle/>
          <a:p>
            <a:pPr algn="r" indent="0" marL="0">
              <a:buNone/>
            </a:pPr>
            <a:r>
              <a:rPr lang="en-US" sz="1200" b="1" dirty="0">
                <a:solidFill>
                  <a:srgbClr val="073763"/>
                </a:solidFill>
                <a:latin typeface="Calibri" pitchFamily="34" charset="0"/>
                <a:ea typeface="Calibri" pitchFamily="34" charset="-122"/>
                <a:cs typeface="Calibri" pitchFamily="34" charset="-120"/>
              </a:rPr>
              <a:t>12</a:t>
            </a:r>
            <a:endParaRPr lang="en-US" sz="1200" dirty="0"/>
          </a:p>
        </p:txBody>
      </p:sp>
      <p:sp>
        <p:nvSpPr>
          <p:cNvPr id="31" name="Shape 29"/>
          <p:cNvSpPr/>
          <p:nvPr/>
        </p:nvSpPr>
        <p:spPr>
          <a:xfrm>
            <a:off x="4536338" y="5532120"/>
            <a:ext cx="3119018" cy="128016"/>
          </a:xfrm>
          <a:prstGeom prst="roundRect">
            <a:avLst>
              <a:gd name="adj" fmla="val 50000"/>
            </a:avLst>
          </a:prstGeom>
          <a:solidFill>
            <a:srgbClr val="F4F6F9"/>
          </a:solidFill>
          <a:ln w="12700">
            <a:solidFill>
              <a:srgbClr val="F4F6F9"/>
            </a:solidFill>
            <a:prstDash val="solid"/>
          </a:ln>
        </p:spPr>
      </p:sp>
      <p:sp>
        <p:nvSpPr>
          <p:cNvPr id="32" name="Shape 30"/>
          <p:cNvSpPr/>
          <p:nvPr/>
        </p:nvSpPr>
        <p:spPr>
          <a:xfrm>
            <a:off x="4536338" y="5532120"/>
            <a:ext cx="91440" cy="128016"/>
          </a:xfrm>
          <a:prstGeom prst="roundRect">
            <a:avLst>
              <a:gd name="adj" fmla="val 70000"/>
            </a:avLst>
          </a:prstGeom>
          <a:solidFill>
            <a:srgbClr val="0B5394"/>
          </a:solidFill>
          <a:ln w="12700">
            <a:solidFill>
              <a:srgbClr val="0B5394"/>
            </a:solidFill>
            <a:prstDash val="solid"/>
          </a:ln>
        </p:spPr>
      </p:sp>
      <p:sp>
        <p:nvSpPr>
          <p:cNvPr id="33" name="Shape 31"/>
          <p:cNvSpPr/>
          <p:nvPr/>
        </p:nvSpPr>
        <p:spPr>
          <a:xfrm>
            <a:off x="8158277" y="2560320"/>
            <a:ext cx="3576218" cy="3474720"/>
          </a:xfrm>
          <a:prstGeom prst="roundRect">
            <a:avLst>
              <a:gd name="adj" fmla="val 3158"/>
            </a:avLst>
          </a:prstGeom>
          <a:solidFill>
            <a:srgbClr val="0B5394"/>
          </a:solidFill>
          <a:ln/>
        </p:spPr>
      </p:sp>
      <p:sp>
        <p:nvSpPr>
          <p:cNvPr id="34" name="Text 32"/>
          <p:cNvSpPr/>
          <p:nvPr/>
        </p:nvSpPr>
        <p:spPr>
          <a:xfrm>
            <a:off x="8386877" y="2743200"/>
            <a:ext cx="3119018" cy="274320"/>
          </a:xfrm>
          <a:prstGeom prst="rect">
            <a:avLst/>
          </a:prstGeom>
          <a:noFill/>
          <a:ln/>
        </p:spPr>
        <p:txBody>
          <a:bodyPr wrap="square" rtlCol="0" anchor="ctr"/>
          <a:lstStyle/>
          <a:p>
            <a:pPr indent="0" marL="0">
              <a:buNone/>
            </a:pPr>
            <a:r>
              <a:rPr lang="en-US" sz="1000" b="1" spc="300" kern="0" dirty="0">
                <a:solidFill>
                  <a:srgbClr val="8FB8E0"/>
                </a:solidFill>
                <a:latin typeface="Calibri" pitchFamily="34" charset="0"/>
                <a:ea typeface="Calibri" pitchFamily="34" charset="-122"/>
                <a:cs typeface="Calibri" pitchFamily="34" charset="-120"/>
              </a:rPr>
              <a:t>ISOLATION FOREST</a:t>
            </a:r>
            <a:endParaRPr lang="en-US" sz="1000" dirty="0"/>
          </a:p>
        </p:txBody>
      </p:sp>
      <p:sp>
        <p:nvSpPr>
          <p:cNvPr id="35" name="Text 33"/>
          <p:cNvSpPr/>
          <p:nvPr/>
        </p:nvSpPr>
        <p:spPr>
          <a:xfrm>
            <a:off x="8386877" y="3063240"/>
            <a:ext cx="3119018" cy="1911096"/>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3 192</a:t>
            </a:r>
            <a:endParaRPr lang="en-US" sz="4400" dirty="0"/>
          </a:p>
        </p:txBody>
      </p:sp>
      <p:sp>
        <p:nvSpPr>
          <p:cNvPr id="36" name="Text 34"/>
          <p:cNvSpPr/>
          <p:nvPr/>
        </p:nvSpPr>
        <p:spPr>
          <a:xfrm>
            <a:off x="8386877" y="5349240"/>
            <a:ext cx="3119018" cy="548640"/>
          </a:xfrm>
          <a:prstGeom prst="rect">
            <a:avLst/>
          </a:prstGeom>
          <a:noFill/>
          <a:ln/>
        </p:spPr>
        <p:txBody>
          <a:bodyPr wrap="square" rtlCol="0" anchor="ctr"/>
          <a:lstStyle/>
          <a:p>
            <a:pPr indent="0" marL="0">
              <a:buNone/>
            </a:pPr>
            <a:r>
              <a:rPr lang="en-US" sz="1200" dirty="0">
                <a:solidFill>
                  <a:srgbClr val="C7D8EC"/>
                </a:solidFill>
                <a:latin typeface="Calibri" pitchFamily="34" charset="0"/>
                <a:ea typeface="Calibri" pitchFamily="34" charset="-122"/>
                <a:cs typeface="Calibri" pitchFamily="34" charset="-120"/>
              </a:rPr>
              <a:t>anomalies comportementales détectées</a:t>
            </a:r>
            <a:endParaRPr lang="en-US" sz="1200" dirty="0"/>
          </a:p>
        </p:txBody>
      </p:sp>
      <p:sp>
        <p:nvSpPr>
          <p:cNvPr id="37" name="Text 35"/>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8" name="Text 36"/>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Application</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10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LIVRABLE FINAL</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Une app Streamlit, prête pour l'usage.</a:t>
            </a:r>
            <a:endParaRPr lang="en-US" sz="3600" dirty="0"/>
          </a:p>
        </p:txBody>
      </p:sp>
      <p:sp>
        <p:nvSpPr>
          <p:cNvPr id="11" name="Shape 9"/>
          <p:cNvSpPr/>
          <p:nvPr/>
        </p:nvSpPr>
        <p:spPr>
          <a:xfrm>
            <a:off x="457200" y="2377440"/>
            <a:ext cx="2716454" cy="3200400"/>
          </a:xfrm>
          <a:prstGeom prst="roundRect">
            <a:avLst>
              <a:gd name="adj" fmla="val 4039"/>
            </a:avLst>
          </a:prstGeom>
          <a:solidFill>
            <a:srgbClr val="FFFFFF"/>
          </a:solidFill>
          <a:ln w="12700">
            <a:solidFill>
              <a:srgbClr val="E2E8F0"/>
            </a:solidFill>
            <a:prstDash val="solid"/>
          </a:ln>
        </p:spPr>
      </p:sp>
      <p:sp>
        <p:nvSpPr>
          <p:cNvPr id="12" name="Text 10"/>
          <p:cNvSpPr/>
          <p:nvPr/>
        </p:nvSpPr>
        <p:spPr>
          <a:xfrm>
            <a:off x="685800" y="2606040"/>
            <a:ext cx="2259254"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01</a:t>
            </a:r>
            <a:endParaRPr lang="en-US" sz="1000" dirty="0"/>
          </a:p>
        </p:txBody>
      </p:sp>
      <p:sp>
        <p:nvSpPr>
          <p:cNvPr id="13" name="Text 11"/>
          <p:cNvSpPr/>
          <p:nvPr/>
        </p:nvSpPr>
        <p:spPr>
          <a:xfrm>
            <a:off x="685800" y="2971800"/>
            <a:ext cx="2259254" cy="640080"/>
          </a:xfrm>
          <a:prstGeom prst="rect">
            <a:avLst/>
          </a:prstGeom>
          <a:noFill/>
          <a:ln/>
        </p:spPr>
        <p:txBody>
          <a:bodyPr wrap="square"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Accueil</a:t>
            </a:r>
            <a:endParaRPr lang="en-US" sz="2400" dirty="0"/>
          </a:p>
        </p:txBody>
      </p:sp>
      <p:sp>
        <p:nvSpPr>
          <p:cNvPr id="14" name="Text 12"/>
          <p:cNvSpPr/>
          <p:nvPr/>
        </p:nvSpPr>
        <p:spPr>
          <a:xfrm>
            <a:off x="685800" y="3749040"/>
            <a:ext cx="2259254" cy="1645920"/>
          </a:xfrm>
          <a:prstGeom prst="rect">
            <a:avLst/>
          </a:prstGeom>
          <a:noFill/>
          <a:ln/>
        </p:spPr>
        <p:txBody>
          <a:bodyPr wrap="square" rtlCol="0" anchor="t"/>
          <a:lstStyle/>
          <a:p>
            <a:pPr indent="0" marL="0">
              <a:buNone/>
            </a:pPr>
            <a:r>
              <a:rPr lang="en-US" sz="1300" dirty="0">
                <a:solidFill>
                  <a:srgbClr val="4A5568"/>
                </a:solidFill>
                <a:latin typeface="Calibri" pitchFamily="34" charset="0"/>
                <a:ea typeface="Calibri" pitchFamily="34" charset="-122"/>
                <a:cs typeface="Calibri" pitchFamily="34" charset="-120"/>
              </a:rPr>
              <a:t>Contexte projet, chiffres clés, entrée dans l'app.</a:t>
            </a:r>
            <a:endParaRPr lang="en-US" sz="1300" dirty="0"/>
          </a:p>
        </p:txBody>
      </p:sp>
      <p:sp>
        <p:nvSpPr>
          <p:cNvPr id="15" name="Shape 13"/>
          <p:cNvSpPr/>
          <p:nvPr/>
        </p:nvSpPr>
        <p:spPr>
          <a:xfrm>
            <a:off x="3310814" y="2377440"/>
            <a:ext cx="2716454" cy="3200400"/>
          </a:xfrm>
          <a:prstGeom prst="roundRect">
            <a:avLst>
              <a:gd name="adj" fmla="val 4039"/>
            </a:avLst>
          </a:prstGeom>
          <a:solidFill>
            <a:srgbClr val="0B5394"/>
          </a:solidFill>
          <a:ln w="12700">
            <a:solidFill>
              <a:srgbClr val="0B5394"/>
            </a:solidFill>
            <a:prstDash val="solid"/>
          </a:ln>
        </p:spPr>
      </p:sp>
      <p:sp>
        <p:nvSpPr>
          <p:cNvPr id="16" name="Text 14"/>
          <p:cNvSpPr/>
          <p:nvPr/>
        </p:nvSpPr>
        <p:spPr>
          <a:xfrm>
            <a:off x="3539414" y="2606040"/>
            <a:ext cx="2259254" cy="274320"/>
          </a:xfrm>
          <a:prstGeom prst="rect">
            <a:avLst/>
          </a:prstGeom>
          <a:noFill/>
          <a:ln/>
        </p:spPr>
        <p:txBody>
          <a:bodyPr wrap="square" rtlCol="0" anchor="ctr"/>
          <a:lstStyle/>
          <a:p>
            <a:pPr indent="0" marL="0">
              <a:buNone/>
            </a:pPr>
            <a:r>
              <a:rPr lang="en-US" sz="1000" b="1" spc="300" kern="0" dirty="0">
                <a:solidFill>
                  <a:srgbClr val="8FB8E0"/>
                </a:solidFill>
                <a:latin typeface="Calibri" pitchFamily="34" charset="0"/>
                <a:ea typeface="Calibri" pitchFamily="34" charset="-122"/>
                <a:cs typeface="Calibri" pitchFamily="34" charset="-120"/>
              </a:rPr>
              <a:t>02</a:t>
            </a:r>
            <a:endParaRPr lang="en-US" sz="1000" dirty="0"/>
          </a:p>
        </p:txBody>
      </p:sp>
      <p:sp>
        <p:nvSpPr>
          <p:cNvPr id="17" name="Text 15"/>
          <p:cNvSpPr/>
          <p:nvPr/>
        </p:nvSpPr>
        <p:spPr>
          <a:xfrm>
            <a:off x="3539414" y="2971800"/>
            <a:ext cx="2259254" cy="6400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Prédiction</a:t>
            </a:r>
            <a:endParaRPr lang="en-US" sz="2400" dirty="0"/>
          </a:p>
        </p:txBody>
      </p:sp>
      <p:sp>
        <p:nvSpPr>
          <p:cNvPr id="18" name="Text 16"/>
          <p:cNvSpPr/>
          <p:nvPr/>
        </p:nvSpPr>
        <p:spPr>
          <a:xfrm>
            <a:off x="3539414" y="3749040"/>
            <a:ext cx="2259254" cy="1645920"/>
          </a:xfrm>
          <a:prstGeom prst="rect">
            <a:avLst/>
          </a:prstGeom>
          <a:noFill/>
          <a:ln/>
        </p:spPr>
        <p:txBody>
          <a:bodyPr wrap="square" rtlCol="0" anchor="t"/>
          <a:lstStyle/>
          <a:p>
            <a:pPr indent="0" marL="0">
              <a:buNone/>
            </a:pPr>
            <a:r>
              <a:rPr lang="en-US" sz="1300" dirty="0">
                <a:solidFill>
                  <a:srgbClr val="C7D8EC"/>
                </a:solidFill>
                <a:latin typeface="Calibri" pitchFamily="34" charset="0"/>
                <a:ea typeface="Calibri" pitchFamily="34" charset="-122"/>
                <a:cs typeface="Calibri" pitchFamily="34" charset="-120"/>
              </a:rPr>
              <a:t>Scoring temps réel d'un client via le modèle XGBoost.</a:t>
            </a:r>
            <a:endParaRPr lang="en-US" sz="1300" dirty="0"/>
          </a:p>
        </p:txBody>
      </p:sp>
      <p:sp>
        <p:nvSpPr>
          <p:cNvPr id="19" name="Shape 17"/>
          <p:cNvSpPr/>
          <p:nvPr/>
        </p:nvSpPr>
        <p:spPr>
          <a:xfrm>
            <a:off x="6164428" y="2377440"/>
            <a:ext cx="2716454" cy="3200400"/>
          </a:xfrm>
          <a:prstGeom prst="roundRect">
            <a:avLst>
              <a:gd name="adj" fmla="val 4039"/>
            </a:avLst>
          </a:prstGeom>
          <a:solidFill>
            <a:srgbClr val="FFFFFF"/>
          </a:solidFill>
          <a:ln w="12700">
            <a:solidFill>
              <a:srgbClr val="E2E8F0"/>
            </a:solidFill>
            <a:prstDash val="solid"/>
          </a:ln>
        </p:spPr>
      </p:sp>
      <p:sp>
        <p:nvSpPr>
          <p:cNvPr id="20" name="Text 18"/>
          <p:cNvSpPr/>
          <p:nvPr/>
        </p:nvSpPr>
        <p:spPr>
          <a:xfrm>
            <a:off x="6393028" y="2606040"/>
            <a:ext cx="2259254"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03</a:t>
            </a:r>
            <a:endParaRPr lang="en-US" sz="1000" dirty="0"/>
          </a:p>
        </p:txBody>
      </p:sp>
      <p:sp>
        <p:nvSpPr>
          <p:cNvPr id="21" name="Text 19"/>
          <p:cNvSpPr/>
          <p:nvPr/>
        </p:nvSpPr>
        <p:spPr>
          <a:xfrm>
            <a:off x="6393028" y="2971800"/>
            <a:ext cx="2259254" cy="640080"/>
          </a:xfrm>
          <a:prstGeom prst="rect">
            <a:avLst/>
          </a:prstGeom>
          <a:noFill/>
          <a:ln/>
        </p:spPr>
        <p:txBody>
          <a:bodyPr wrap="square"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Dashboard KPI</a:t>
            </a:r>
            <a:endParaRPr lang="en-US" sz="2400" dirty="0"/>
          </a:p>
        </p:txBody>
      </p:sp>
      <p:sp>
        <p:nvSpPr>
          <p:cNvPr id="22" name="Text 20"/>
          <p:cNvSpPr/>
          <p:nvPr/>
        </p:nvSpPr>
        <p:spPr>
          <a:xfrm>
            <a:off x="6393028" y="3749040"/>
            <a:ext cx="2259254" cy="1645920"/>
          </a:xfrm>
          <a:prstGeom prst="rect">
            <a:avLst/>
          </a:prstGeom>
          <a:noFill/>
          <a:ln/>
        </p:spPr>
        <p:txBody>
          <a:bodyPr wrap="square" rtlCol="0" anchor="t"/>
          <a:lstStyle/>
          <a:p>
            <a:pPr indent="0" marL="0">
              <a:buNone/>
            </a:pPr>
            <a:r>
              <a:rPr lang="en-US" sz="1300" dirty="0">
                <a:solidFill>
                  <a:srgbClr val="4A5568"/>
                </a:solidFill>
                <a:latin typeface="Calibri" pitchFamily="34" charset="0"/>
                <a:ea typeface="Calibri" pitchFamily="34" charset="-122"/>
                <a:cs typeface="Calibri" pitchFamily="34" charset="-120"/>
              </a:rPr>
              <a:t>Vue synthétique churn, rétention, segments.</a:t>
            </a:r>
            <a:endParaRPr lang="en-US" sz="1300" dirty="0"/>
          </a:p>
        </p:txBody>
      </p:sp>
      <p:sp>
        <p:nvSpPr>
          <p:cNvPr id="23" name="Shape 21"/>
          <p:cNvSpPr/>
          <p:nvPr/>
        </p:nvSpPr>
        <p:spPr>
          <a:xfrm>
            <a:off x="9018041" y="2377440"/>
            <a:ext cx="2716454" cy="3200400"/>
          </a:xfrm>
          <a:prstGeom prst="roundRect">
            <a:avLst>
              <a:gd name="adj" fmla="val 4039"/>
            </a:avLst>
          </a:prstGeom>
          <a:solidFill>
            <a:srgbClr val="FFFFFF"/>
          </a:solidFill>
          <a:ln w="12700">
            <a:solidFill>
              <a:srgbClr val="E2E8F0"/>
            </a:solidFill>
            <a:prstDash val="solid"/>
          </a:ln>
        </p:spPr>
      </p:sp>
      <p:sp>
        <p:nvSpPr>
          <p:cNvPr id="24" name="Text 22"/>
          <p:cNvSpPr/>
          <p:nvPr/>
        </p:nvSpPr>
        <p:spPr>
          <a:xfrm>
            <a:off x="9246641" y="2606040"/>
            <a:ext cx="2259254" cy="274320"/>
          </a:xfrm>
          <a:prstGeom prst="rect">
            <a:avLst/>
          </a:prstGeom>
          <a:noFill/>
          <a:ln/>
        </p:spPr>
        <p:txBody>
          <a:bodyPr wrap="square" rtlCol="0" anchor="ctr"/>
          <a:lstStyle/>
          <a:p>
            <a:pPr indent="0" marL="0">
              <a:buNone/>
            </a:pPr>
            <a:r>
              <a:rPr lang="en-US" sz="1000" b="1" spc="300" kern="0" dirty="0">
                <a:solidFill>
                  <a:srgbClr val="4A5568"/>
                </a:solidFill>
                <a:latin typeface="Calibri" pitchFamily="34" charset="0"/>
                <a:ea typeface="Calibri" pitchFamily="34" charset="-122"/>
                <a:cs typeface="Calibri" pitchFamily="34" charset="-120"/>
              </a:rPr>
              <a:t>04</a:t>
            </a:r>
            <a:endParaRPr lang="en-US" sz="1000" dirty="0"/>
          </a:p>
        </p:txBody>
      </p:sp>
      <p:sp>
        <p:nvSpPr>
          <p:cNvPr id="25" name="Text 23"/>
          <p:cNvSpPr/>
          <p:nvPr/>
        </p:nvSpPr>
        <p:spPr>
          <a:xfrm>
            <a:off x="9246641" y="2971800"/>
            <a:ext cx="2259254" cy="640080"/>
          </a:xfrm>
          <a:prstGeom prst="rect">
            <a:avLst/>
          </a:prstGeom>
          <a:noFill/>
          <a:ln/>
        </p:spPr>
        <p:txBody>
          <a:bodyPr wrap="square" rtlCol="0" anchor="ctr"/>
          <a:lstStyle/>
          <a:p>
            <a:pPr indent="0" marL="0">
              <a:buNone/>
            </a:pPr>
            <a:r>
              <a:rPr lang="en-US" sz="2400" b="1" dirty="0">
                <a:solidFill>
                  <a:srgbClr val="14213D"/>
                </a:solidFill>
                <a:latin typeface="Calibri" pitchFamily="34" charset="0"/>
                <a:ea typeface="Calibri" pitchFamily="34" charset="-122"/>
                <a:cs typeface="Calibri" pitchFamily="34" charset="-120"/>
              </a:rPr>
              <a:t>À propos</a:t>
            </a:r>
            <a:endParaRPr lang="en-US" sz="2400" dirty="0"/>
          </a:p>
        </p:txBody>
      </p:sp>
      <p:sp>
        <p:nvSpPr>
          <p:cNvPr id="26" name="Text 24"/>
          <p:cNvSpPr/>
          <p:nvPr/>
        </p:nvSpPr>
        <p:spPr>
          <a:xfrm>
            <a:off x="9246641" y="3749040"/>
            <a:ext cx="2259254" cy="1645920"/>
          </a:xfrm>
          <a:prstGeom prst="rect">
            <a:avLst/>
          </a:prstGeom>
          <a:noFill/>
          <a:ln/>
        </p:spPr>
        <p:txBody>
          <a:bodyPr wrap="square" rtlCol="0" anchor="t"/>
          <a:lstStyle/>
          <a:p>
            <a:pPr indent="0" marL="0">
              <a:buNone/>
            </a:pPr>
            <a:r>
              <a:rPr lang="en-US" sz="1300" dirty="0">
                <a:solidFill>
                  <a:srgbClr val="4A5568"/>
                </a:solidFill>
                <a:latin typeface="Calibri" pitchFamily="34" charset="0"/>
                <a:ea typeface="Calibri" pitchFamily="34" charset="-122"/>
                <a:cs typeface="Calibri" pitchFamily="34" charset="-120"/>
              </a:rPr>
              <a:t>Équipe, méthodologie, sources &amp; limites.</a:t>
            </a:r>
            <a:endParaRPr lang="en-US" sz="1300" dirty="0"/>
          </a:p>
        </p:txBody>
      </p:sp>
      <p:sp>
        <p:nvSpPr>
          <p:cNvPr id="27" name="Shape 25"/>
          <p:cNvSpPr/>
          <p:nvPr/>
        </p:nvSpPr>
        <p:spPr>
          <a:xfrm>
            <a:off x="457200" y="5852160"/>
            <a:ext cx="2103120" cy="411480"/>
          </a:xfrm>
          <a:prstGeom prst="roundRect">
            <a:avLst>
              <a:gd name="adj" fmla="val 50000"/>
            </a:avLst>
          </a:prstGeom>
          <a:solidFill>
            <a:srgbClr val="C8102E"/>
          </a:solidFill>
          <a:ln w="12700">
            <a:solidFill>
              <a:srgbClr val="C8102E"/>
            </a:solidFill>
            <a:prstDash val="solid"/>
          </a:ln>
        </p:spPr>
      </p:sp>
      <p:sp>
        <p:nvSpPr>
          <p:cNvPr id="28" name="Text 26"/>
          <p:cNvSpPr/>
          <p:nvPr/>
        </p:nvSpPr>
        <p:spPr>
          <a:xfrm>
            <a:off x="457200" y="5852160"/>
            <a:ext cx="21031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DÉMO LIVE — 5 min</a:t>
            </a:r>
            <a:endParaRPr lang="en-US" sz="1100" dirty="0"/>
          </a:p>
        </p:txBody>
      </p:sp>
      <p:sp>
        <p:nvSpPr>
          <p:cNvPr id="29" name="Text 27"/>
          <p:cNvSpPr/>
          <p:nvPr/>
        </p:nvSpPr>
        <p:spPr>
          <a:xfrm>
            <a:off x="2743200" y="5852160"/>
            <a:ext cx="5486400" cy="41148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Basculer vers l'application Streamlit</a:t>
            </a:r>
            <a:endParaRPr lang="en-US" sz="1300" dirty="0"/>
          </a:p>
        </p:txBody>
      </p:sp>
      <p:sp>
        <p:nvSpPr>
          <p:cNvPr id="30" name="Text 28"/>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1" name="Text 29"/>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Limites &amp; perspectives</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11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CE QU'IL RESTE À FAIRE</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Assumer les angles morts.</a:t>
            </a:r>
            <a:endParaRPr lang="en-US" sz="3600" dirty="0"/>
          </a:p>
        </p:txBody>
      </p:sp>
      <p:sp>
        <p:nvSpPr>
          <p:cNvPr id="11" name="Text 9"/>
          <p:cNvSpPr/>
          <p:nvPr/>
        </p:nvSpPr>
        <p:spPr>
          <a:xfrm>
            <a:off x="457200" y="2651760"/>
            <a:ext cx="5486400" cy="274320"/>
          </a:xfrm>
          <a:prstGeom prst="rect">
            <a:avLst/>
          </a:prstGeom>
          <a:noFill/>
          <a:ln/>
        </p:spPr>
        <p:txBody>
          <a:bodyPr wrap="square" rtlCol="0" anchor="ctr"/>
          <a:lstStyle/>
          <a:p>
            <a:pPr indent="0" marL="0">
              <a:buNone/>
            </a:pPr>
            <a:r>
              <a:rPr lang="en-US" sz="1100" b="1" spc="400" kern="0" dirty="0">
                <a:solidFill>
                  <a:srgbClr val="C8102E"/>
                </a:solidFill>
                <a:latin typeface="Calibri" pitchFamily="34" charset="0"/>
                <a:ea typeface="Calibri" pitchFamily="34" charset="-122"/>
                <a:cs typeface="Calibri" pitchFamily="34" charset="-120"/>
              </a:rPr>
              <a:t>LIMITES ACTUELLES</a:t>
            </a:r>
            <a:endParaRPr lang="en-US" sz="1100" dirty="0"/>
          </a:p>
        </p:txBody>
      </p:sp>
      <p:sp>
        <p:nvSpPr>
          <p:cNvPr id="12" name="Shape 10"/>
          <p:cNvSpPr/>
          <p:nvPr/>
        </p:nvSpPr>
        <p:spPr>
          <a:xfrm>
            <a:off x="457200" y="3236976"/>
            <a:ext cx="128016" cy="128016"/>
          </a:xfrm>
          <a:prstGeom prst="ellipse">
            <a:avLst/>
          </a:prstGeom>
          <a:solidFill>
            <a:srgbClr val="C8102E"/>
          </a:solidFill>
          <a:ln w="12700">
            <a:solidFill>
              <a:srgbClr val="C8102E"/>
            </a:solidFill>
            <a:prstDash val="solid"/>
          </a:ln>
        </p:spPr>
      </p:sp>
      <p:sp>
        <p:nvSpPr>
          <p:cNvPr id="13" name="Text 11"/>
          <p:cNvSpPr/>
          <p:nvPr/>
        </p:nvSpPr>
        <p:spPr>
          <a:xfrm>
            <a:off x="713232" y="310896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Validation croisée k-fold non réalisée sur XGBoost final.</a:t>
            </a:r>
            <a:endParaRPr lang="en-US" sz="1400" dirty="0"/>
          </a:p>
        </p:txBody>
      </p:sp>
      <p:sp>
        <p:nvSpPr>
          <p:cNvPr id="14" name="Shape 12"/>
          <p:cNvSpPr/>
          <p:nvPr/>
        </p:nvSpPr>
        <p:spPr>
          <a:xfrm>
            <a:off x="457200" y="4014216"/>
            <a:ext cx="128016" cy="128016"/>
          </a:xfrm>
          <a:prstGeom prst="ellipse">
            <a:avLst/>
          </a:prstGeom>
          <a:solidFill>
            <a:srgbClr val="C8102E"/>
          </a:solidFill>
          <a:ln w="12700">
            <a:solidFill>
              <a:srgbClr val="C8102E"/>
            </a:solidFill>
            <a:prstDash val="solid"/>
          </a:ln>
        </p:spPr>
      </p:sp>
      <p:sp>
        <p:nvSpPr>
          <p:cNvPr id="15" name="Text 13"/>
          <p:cNvSpPr/>
          <p:nvPr/>
        </p:nvSpPr>
        <p:spPr>
          <a:xfrm>
            <a:off x="713232" y="388620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Pas encore de SHAP pour l'explication individuelle des prédictions.</a:t>
            </a:r>
            <a:endParaRPr lang="en-US" sz="1400" dirty="0"/>
          </a:p>
        </p:txBody>
      </p:sp>
      <p:sp>
        <p:nvSpPr>
          <p:cNvPr id="16" name="Shape 14"/>
          <p:cNvSpPr/>
          <p:nvPr/>
        </p:nvSpPr>
        <p:spPr>
          <a:xfrm>
            <a:off x="457200" y="4791456"/>
            <a:ext cx="128016" cy="128016"/>
          </a:xfrm>
          <a:prstGeom prst="ellipse">
            <a:avLst/>
          </a:prstGeom>
          <a:solidFill>
            <a:srgbClr val="C8102E"/>
          </a:solidFill>
          <a:ln w="12700">
            <a:solidFill>
              <a:srgbClr val="C8102E"/>
            </a:solidFill>
            <a:prstDash val="solid"/>
          </a:ln>
        </p:spPr>
      </p:sp>
      <p:sp>
        <p:nvSpPr>
          <p:cNvPr id="17" name="Text 15"/>
          <p:cNvSpPr/>
          <p:nvPr/>
        </p:nvSpPr>
        <p:spPr>
          <a:xfrm>
            <a:off x="713232" y="466344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Quelques incohérences documentées entre notebook &amp; pipeline de production.</a:t>
            </a:r>
            <a:endParaRPr lang="en-US" sz="1400" dirty="0"/>
          </a:p>
        </p:txBody>
      </p:sp>
      <p:sp>
        <p:nvSpPr>
          <p:cNvPr id="18" name="Text 16"/>
          <p:cNvSpPr/>
          <p:nvPr/>
        </p:nvSpPr>
        <p:spPr>
          <a:xfrm>
            <a:off x="6400800" y="26517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PERSPECTIVES</a:t>
            </a:r>
            <a:endParaRPr lang="en-US" sz="1100" dirty="0"/>
          </a:p>
        </p:txBody>
      </p:sp>
      <p:sp>
        <p:nvSpPr>
          <p:cNvPr id="19" name="Shape 17"/>
          <p:cNvSpPr/>
          <p:nvPr/>
        </p:nvSpPr>
        <p:spPr>
          <a:xfrm>
            <a:off x="6400800" y="3236976"/>
            <a:ext cx="128016" cy="128016"/>
          </a:xfrm>
          <a:prstGeom prst="ellipse">
            <a:avLst/>
          </a:prstGeom>
          <a:solidFill>
            <a:srgbClr val="0B5394"/>
          </a:solidFill>
          <a:ln w="12700">
            <a:solidFill>
              <a:srgbClr val="0B5394"/>
            </a:solidFill>
            <a:prstDash val="solid"/>
          </a:ln>
        </p:spPr>
      </p:sp>
      <p:sp>
        <p:nvSpPr>
          <p:cNvPr id="20" name="Text 18"/>
          <p:cNvSpPr/>
          <p:nvPr/>
        </p:nvSpPr>
        <p:spPr>
          <a:xfrm>
            <a:off x="6656832" y="310896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Ajouter SHAP dans l'app pour justifier chaque score.</a:t>
            </a:r>
            <a:endParaRPr lang="en-US" sz="1400" dirty="0"/>
          </a:p>
        </p:txBody>
      </p:sp>
      <p:sp>
        <p:nvSpPr>
          <p:cNvPr id="21" name="Shape 19"/>
          <p:cNvSpPr/>
          <p:nvPr/>
        </p:nvSpPr>
        <p:spPr>
          <a:xfrm>
            <a:off x="6400800" y="4014216"/>
            <a:ext cx="128016" cy="128016"/>
          </a:xfrm>
          <a:prstGeom prst="ellipse">
            <a:avLst/>
          </a:prstGeom>
          <a:solidFill>
            <a:srgbClr val="0B5394"/>
          </a:solidFill>
          <a:ln w="12700">
            <a:solidFill>
              <a:srgbClr val="0B5394"/>
            </a:solidFill>
            <a:prstDash val="solid"/>
          </a:ln>
        </p:spPr>
      </p:sp>
      <p:sp>
        <p:nvSpPr>
          <p:cNvPr id="22" name="Text 20"/>
          <p:cNvSpPr/>
          <p:nvPr/>
        </p:nvSpPr>
        <p:spPr>
          <a:xfrm>
            <a:off x="6656832" y="388620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Réentraînement périodique + monitoring de drift.</a:t>
            </a:r>
            <a:endParaRPr lang="en-US" sz="1400" dirty="0"/>
          </a:p>
        </p:txBody>
      </p:sp>
      <p:sp>
        <p:nvSpPr>
          <p:cNvPr id="23" name="Shape 21"/>
          <p:cNvSpPr/>
          <p:nvPr/>
        </p:nvSpPr>
        <p:spPr>
          <a:xfrm>
            <a:off x="6400800" y="4791456"/>
            <a:ext cx="128016" cy="128016"/>
          </a:xfrm>
          <a:prstGeom prst="ellipse">
            <a:avLst/>
          </a:prstGeom>
          <a:solidFill>
            <a:srgbClr val="0B5394"/>
          </a:solidFill>
          <a:ln w="12700">
            <a:solidFill>
              <a:srgbClr val="0B5394"/>
            </a:solidFill>
            <a:prstDash val="solid"/>
          </a:ln>
        </p:spPr>
      </p:sp>
      <p:sp>
        <p:nvSpPr>
          <p:cNvPr id="24" name="Text 22"/>
          <p:cNvSpPr/>
          <p:nvPr/>
        </p:nvSpPr>
        <p:spPr>
          <a:xfrm>
            <a:off x="6656832" y="4663440"/>
            <a:ext cx="5047488" cy="457200"/>
          </a:xfrm>
          <a:prstGeom prst="rect">
            <a:avLst/>
          </a:prstGeom>
          <a:noFill/>
          <a:ln/>
        </p:spPr>
        <p:txBody>
          <a:bodyPr wrap="square" rtlCol="0" anchor="t"/>
          <a:lstStyle/>
          <a:p>
            <a:pPr indent="0" marL="0">
              <a:buNone/>
            </a:pPr>
            <a:r>
              <a:rPr lang="en-US" sz="1400" dirty="0">
                <a:solidFill>
                  <a:srgbClr val="14213D"/>
                </a:solidFill>
                <a:latin typeface="Calibri" pitchFamily="34" charset="0"/>
                <a:ea typeface="Calibri" pitchFamily="34" charset="-122"/>
                <a:cs typeface="Calibri" pitchFamily="34" charset="-120"/>
              </a:rPr>
              <a:t>Extension aux données transactionnelles pour affiner les segments.</a:t>
            </a:r>
            <a:endParaRPr lang="en-US" sz="1400" dirty="0"/>
          </a:p>
        </p:txBody>
      </p:sp>
      <p:sp>
        <p:nvSpPr>
          <p:cNvPr id="25" name="Text 23"/>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26" name="Text 24"/>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376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3763"/>
          </a:solidFill>
          <a:ln/>
        </p:spPr>
      </p:sp>
      <p:sp>
        <p:nvSpPr>
          <p:cNvPr id="3" name="Shape 1"/>
          <p:cNvSpPr/>
          <p:nvPr/>
        </p:nvSpPr>
        <p:spPr>
          <a:xfrm>
            <a:off x="0" y="0"/>
            <a:ext cx="12191695" cy="3429000"/>
          </a:xfrm>
          <a:prstGeom prst="rect">
            <a:avLst/>
          </a:prstGeom>
          <a:solidFill>
            <a:srgbClr val="0B5394"/>
          </a:solidFill>
          <a:ln/>
        </p:spPr>
      </p:sp>
      <p:sp>
        <p:nvSpPr>
          <p:cNvPr id="4" name="Shape 2"/>
          <p:cNvSpPr/>
          <p:nvPr/>
        </p:nvSpPr>
        <p:spPr>
          <a:xfrm>
            <a:off x="548640" y="502920"/>
            <a:ext cx="640080" cy="457200"/>
          </a:xfrm>
          <a:prstGeom prst="rect">
            <a:avLst/>
          </a:prstGeom>
          <a:solidFill>
            <a:srgbClr val="C8102E"/>
          </a:solidFill>
          <a:ln w="12700">
            <a:solidFill>
              <a:srgbClr val="C8102E"/>
            </a:solidFill>
            <a:prstDash val="solid"/>
          </a:ln>
        </p:spPr>
      </p:sp>
      <p:sp>
        <p:nvSpPr>
          <p:cNvPr id="5" name="Text 3"/>
          <p:cNvSpPr/>
          <p:nvPr/>
        </p:nvSpPr>
        <p:spPr>
          <a:xfrm>
            <a:off x="548640" y="502920"/>
            <a:ext cx="64008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ESB</a:t>
            </a:r>
            <a:endParaRPr lang="en-US" sz="1300" dirty="0"/>
          </a:p>
        </p:txBody>
      </p:sp>
      <p:sp>
        <p:nvSpPr>
          <p:cNvPr id="6" name="Text 4"/>
          <p:cNvSpPr/>
          <p:nvPr/>
        </p:nvSpPr>
        <p:spPr>
          <a:xfrm>
            <a:off x="1280160" y="502920"/>
            <a:ext cx="54864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ESPRIT School of Business</a:t>
            </a:r>
            <a:endParaRPr lang="en-US" sz="1400" dirty="0"/>
          </a:p>
        </p:txBody>
      </p:sp>
      <p:sp>
        <p:nvSpPr>
          <p:cNvPr id="7" name="Text 5"/>
          <p:cNvSpPr/>
          <p:nvPr/>
        </p:nvSpPr>
        <p:spPr>
          <a:xfrm>
            <a:off x="10820095" y="502920"/>
            <a:ext cx="914400" cy="457200"/>
          </a:xfrm>
          <a:prstGeom prst="rect">
            <a:avLst/>
          </a:prstGeom>
          <a:noFill/>
          <a:ln/>
        </p:spPr>
        <p:txBody>
          <a:bodyPr wrap="square" rtlCol="0" anchor="ctr"/>
          <a:lstStyle/>
          <a:p>
            <a:pPr algn="r" indent="0" marL="0">
              <a:buNone/>
            </a:pPr>
            <a:r>
              <a:rPr lang="en-US" sz="1200" b="1" dirty="0">
                <a:solidFill>
                  <a:srgbClr val="C7D8EC"/>
                </a:solidFill>
                <a:latin typeface="Calibri" pitchFamily="34" charset="0"/>
                <a:ea typeface="Calibri" pitchFamily="34" charset="-122"/>
                <a:cs typeface="Calibri" pitchFamily="34" charset="-120"/>
              </a:rPr>
              <a:t>12 / 13</a:t>
            </a:r>
            <a:endParaRPr lang="en-US" sz="1200" dirty="0"/>
          </a:p>
        </p:txBody>
      </p:sp>
      <p:sp>
        <p:nvSpPr>
          <p:cNvPr id="8" name="Text 6"/>
          <p:cNvSpPr/>
          <p:nvPr/>
        </p:nvSpPr>
        <p:spPr>
          <a:xfrm>
            <a:off x="548640" y="1645920"/>
            <a:ext cx="5486400" cy="320040"/>
          </a:xfrm>
          <a:prstGeom prst="rect">
            <a:avLst/>
          </a:prstGeom>
          <a:noFill/>
          <a:ln/>
        </p:spPr>
        <p:txBody>
          <a:bodyPr wrap="square" rtlCol="0" anchor="ctr"/>
          <a:lstStyle/>
          <a:p>
            <a:pPr indent="0" marL="0">
              <a:buNone/>
            </a:pPr>
            <a:r>
              <a:rPr lang="en-US" sz="1300" b="1" spc="600" kern="0" dirty="0">
                <a:solidFill>
                  <a:srgbClr val="8FB8E0"/>
                </a:solidFill>
                <a:latin typeface="Calibri" pitchFamily="34" charset="0"/>
                <a:ea typeface="Calibri" pitchFamily="34" charset="-122"/>
                <a:cs typeface="Calibri" pitchFamily="34" charset="-120"/>
              </a:rPr>
              <a:t>CONCLUSION</a:t>
            </a:r>
            <a:endParaRPr lang="en-US" sz="1300" dirty="0"/>
          </a:p>
        </p:txBody>
      </p:sp>
      <p:sp>
        <p:nvSpPr>
          <p:cNvPr id="9" name="Text 7"/>
          <p:cNvSpPr/>
          <p:nvPr/>
        </p:nvSpPr>
        <p:spPr>
          <a:xfrm>
            <a:off x="548640" y="2011680"/>
            <a:ext cx="10972800" cy="173736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Un pipeline complet,
</a:t>
            </a:r>
            <a:pPr indent="0" marL="0">
              <a:buNone/>
            </a:pPr>
            <a:r>
              <a:rPr lang="en-US" sz="4600" b="1" dirty="0">
                <a:solidFill>
                  <a:srgbClr val="FFFFFF"/>
                </a:solidFill>
                <a:latin typeface="Calibri" pitchFamily="34" charset="0"/>
                <a:ea typeface="Calibri" pitchFamily="34" charset="-122"/>
                <a:cs typeface="Calibri" pitchFamily="34" charset="-120"/>
              </a:rPr>
              <a:t>du </a:t>
            </a:r>
            <a:pPr indent="0" marL="0">
              <a:buNone/>
            </a:pPr>
            <a:r>
              <a:rPr lang="en-US" sz="4600" b="1" dirty="0">
                <a:solidFill>
                  <a:srgbClr val="FF6B7A"/>
                </a:solidFill>
                <a:latin typeface="Calibri" pitchFamily="34" charset="0"/>
                <a:ea typeface="Calibri" pitchFamily="34" charset="-122"/>
                <a:cs typeface="Calibri" pitchFamily="34" charset="-120"/>
              </a:rPr>
              <a:t>fichier brut</a:t>
            </a:r>
            <a:pPr indent="0" marL="0">
              <a:buNone/>
            </a:pPr>
            <a:r>
              <a:rPr lang="en-US" sz="4600" b="1" dirty="0">
                <a:solidFill>
                  <a:srgbClr val="FFFFFF"/>
                </a:solidFill>
                <a:latin typeface="Calibri" pitchFamily="34" charset="0"/>
                <a:ea typeface="Calibri" pitchFamily="34" charset="-122"/>
                <a:cs typeface="Calibri" pitchFamily="34" charset="-120"/>
              </a:rPr>
              <a:t> au scoring en ligne.</a:t>
            </a:r>
            <a:endParaRPr lang="en-US" sz="4600" dirty="0"/>
          </a:p>
        </p:txBody>
      </p:sp>
      <p:sp>
        <p:nvSpPr>
          <p:cNvPr id="10" name="Shape 8"/>
          <p:cNvSpPr/>
          <p:nvPr/>
        </p:nvSpPr>
        <p:spPr>
          <a:xfrm>
            <a:off x="548640" y="4206240"/>
            <a:ext cx="45720" cy="1463040"/>
          </a:xfrm>
          <a:prstGeom prst="rect">
            <a:avLst/>
          </a:prstGeom>
          <a:solidFill>
            <a:srgbClr val="FF6B7A"/>
          </a:solidFill>
          <a:ln w="12700">
            <a:solidFill>
              <a:srgbClr val="FF6B7A"/>
            </a:solidFill>
            <a:prstDash val="solid"/>
          </a:ln>
        </p:spPr>
      </p:sp>
      <p:sp>
        <p:nvSpPr>
          <p:cNvPr id="11" name="Text 9"/>
          <p:cNvSpPr/>
          <p:nvPr/>
        </p:nvSpPr>
        <p:spPr>
          <a:xfrm>
            <a:off x="731520" y="4206240"/>
            <a:ext cx="3332378"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445K</a:t>
            </a:r>
            <a:endParaRPr lang="en-US" sz="5400" dirty="0"/>
          </a:p>
        </p:txBody>
      </p:sp>
      <p:sp>
        <p:nvSpPr>
          <p:cNvPr id="12" name="Text 10"/>
          <p:cNvSpPr/>
          <p:nvPr/>
        </p:nvSpPr>
        <p:spPr>
          <a:xfrm>
            <a:off x="731520" y="5212080"/>
            <a:ext cx="3332378" cy="457200"/>
          </a:xfrm>
          <a:prstGeom prst="rect">
            <a:avLst/>
          </a:prstGeom>
          <a:noFill/>
          <a:ln/>
        </p:spPr>
        <p:txBody>
          <a:bodyPr wrap="square" rtlCol="0" anchor="ctr"/>
          <a:lstStyle/>
          <a:p>
            <a:pPr indent="0" marL="0">
              <a:buNone/>
            </a:pPr>
            <a:r>
              <a:rPr lang="en-US" sz="1400" dirty="0">
                <a:solidFill>
                  <a:srgbClr val="C7D8EC"/>
                </a:solidFill>
                <a:latin typeface="Calibri" pitchFamily="34" charset="0"/>
                <a:ea typeface="Calibri" pitchFamily="34" charset="-122"/>
                <a:cs typeface="Calibri" pitchFamily="34" charset="-120"/>
              </a:rPr>
              <a:t>événements exploitables</a:t>
            </a:r>
            <a:endParaRPr lang="en-US" sz="1400" dirty="0"/>
          </a:p>
        </p:txBody>
      </p:sp>
      <p:sp>
        <p:nvSpPr>
          <p:cNvPr id="13" name="Shape 11"/>
          <p:cNvSpPr/>
          <p:nvPr/>
        </p:nvSpPr>
        <p:spPr>
          <a:xfrm>
            <a:off x="4338218" y="4206240"/>
            <a:ext cx="45720" cy="1463040"/>
          </a:xfrm>
          <a:prstGeom prst="rect">
            <a:avLst/>
          </a:prstGeom>
          <a:solidFill>
            <a:srgbClr val="FF6B7A"/>
          </a:solidFill>
          <a:ln w="12700">
            <a:solidFill>
              <a:srgbClr val="FF6B7A"/>
            </a:solidFill>
            <a:prstDash val="solid"/>
          </a:ln>
        </p:spPr>
      </p:sp>
      <p:sp>
        <p:nvSpPr>
          <p:cNvPr id="14" name="Text 12"/>
          <p:cNvSpPr/>
          <p:nvPr/>
        </p:nvSpPr>
        <p:spPr>
          <a:xfrm>
            <a:off x="4521098" y="4206240"/>
            <a:ext cx="3332378"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0,95</a:t>
            </a:r>
            <a:endParaRPr lang="en-US" sz="5400" dirty="0"/>
          </a:p>
        </p:txBody>
      </p:sp>
      <p:sp>
        <p:nvSpPr>
          <p:cNvPr id="15" name="Text 13"/>
          <p:cNvSpPr/>
          <p:nvPr/>
        </p:nvSpPr>
        <p:spPr>
          <a:xfrm>
            <a:off x="4521098" y="5212080"/>
            <a:ext cx="3332378" cy="457200"/>
          </a:xfrm>
          <a:prstGeom prst="rect">
            <a:avLst/>
          </a:prstGeom>
          <a:noFill/>
          <a:ln/>
        </p:spPr>
        <p:txBody>
          <a:bodyPr wrap="square" rtlCol="0" anchor="ctr"/>
          <a:lstStyle/>
          <a:p>
            <a:pPr indent="0" marL="0">
              <a:buNone/>
            </a:pPr>
            <a:r>
              <a:rPr lang="en-US" sz="1400" dirty="0">
                <a:solidFill>
                  <a:srgbClr val="C7D8EC"/>
                </a:solidFill>
                <a:latin typeface="Calibri" pitchFamily="34" charset="0"/>
                <a:ea typeface="Calibri" pitchFamily="34" charset="-122"/>
                <a:cs typeface="Calibri" pitchFamily="34" charset="-120"/>
              </a:rPr>
              <a:t>F1-score XGBoost</a:t>
            </a:r>
            <a:endParaRPr lang="en-US" sz="1400" dirty="0"/>
          </a:p>
        </p:txBody>
      </p:sp>
      <p:sp>
        <p:nvSpPr>
          <p:cNvPr id="16" name="Shape 14"/>
          <p:cNvSpPr/>
          <p:nvPr/>
        </p:nvSpPr>
        <p:spPr>
          <a:xfrm>
            <a:off x="8127797" y="4206240"/>
            <a:ext cx="45720" cy="1463040"/>
          </a:xfrm>
          <a:prstGeom prst="rect">
            <a:avLst/>
          </a:prstGeom>
          <a:solidFill>
            <a:srgbClr val="FF6B7A"/>
          </a:solidFill>
          <a:ln w="12700">
            <a:solidFill>
              <a:srgbClr val="FF6B7A"/>
            </a:solidFill>
            <a:prstDash val="solid"/>
          </a:ln>
        </p:spPr>
      </p:sp>
      <p:sp>
        <p:nvSpPr>
          <p:cNvPr id="17" name="Text 15"/>
          <p:cNvSpPr/>
          <p:nvPr/>
        </p:nvSpPr>
        <p:spPr>
          <a:xfrm>
            <a:off x="8310677" y="4206240"/>
            <a:ext cx="3332378" cy="9144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1</a:t>
            </a:r>
            <a:endParaRPr lang="en-US" sz="5400" dirty="0"/>
          </a:p>
        </p:txBody>
      </p:sp>
      <p:sp>
        <p:nvSpPr>
          <p:cNvPr id="18" name="Text 16"/>
          <p:cNvSpPr/>
          <p:nvPr/>
        </p:nvSpPr>
        <p:spPr>
          <a:xfrm>
            <a:off x="8310677" y="5212080"/>
            <a:ext cx="3332378" cy="457200"/>
          </a:xfrm>
          <a:prstGeom prst="rect">
            <a:avLst/>
          </a:prstGeom>
          <a:noFill/>
          <a:ln/>
        </p:spPr>
        <p:txBody>
          <a:bodyPr wrap="square" rtlCol="0" anchor="ctr"/>
          <a:lstStyle/>
          <a:p>
            <a:pPr indent="0" marL="0">
              <a:buNone/>
            </a:pPr>
            <a:r>
              <a:rPr lang="en-US" sz="1400" dirty="0">
                <a:solidFill>
                  <a:srgbClr val="C7D8EC"/>
                </a:solidFill>
                <a:latin typeface="Calibri" pitchFamily="34" charset="0"/>
                <a:ea typeface="Calibri" pitchFamily="34" charset="-122"/>
                <a:cs typeface="Calibri" pitchFamily="34" charset="-120"/>
              </a:rPr>
              <a:t>application livrée</a:t>
            </a:r>
            <a:endParaRPr lang="en-US" sz="1400" dirty="0"/>
          </a:p>
        </p:txBody>
      </p:sp>
      <p:sp>
        <p:nvSpPr>
          <p:cNvPr id="19" name="Shape 17"/>
          <p:cNvSpPr/>
          <p:nvPr/>
        </p:nvSpPr>
        <p:spPr>
          <a:xfrm>
            <a:off x="548640" y="5943600"/>
            <a:ext cx="11094415" cy="0"/>
          </a:xfrm>
          <a:prstGeom prst="line">
            <a:avLst/>
          </a:prstGeom>
          <a:noFill/>
          <a:ln w="12700">
            <a:solidFill>
              <a:srgbClr val="1E5A8F"/>
            </a:solidFill>
            <a:prstDash val="solid"/>
          </a:ln>
        </p:spPr>
      </p:sp>
      <p:sp>
        <p:nvSpPr>
          <p:cNvPr id="20" name="Text 18"/>
          <p:cNvSpPr/>
          <p:nvPr/>
        </p:nvSpPr>
        <p:spPr>
          <a:xfrm>
            <a:off x="548640" y="6080760"/>
            <a:ext cx="73152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Merci de votre attention.</a:t>
            </a:r>
            <a:endParaRPr lang="en-US" sz="1800" dirty="0"/>
          </a:p>
        </p:txBody>
      </p:sp>
      <p:sp>
        <p:nvSpPr>
          <p:cNvPr id="21" name="Text 19"/>
          <p:cNvSpPr/>
          <p:nvPr/>
        </p:nvSpPr>
        <p:spPr>
          <a:xfrm>
            <a:off x="548640" y="6446520"/>
            <a:ext cx="10972800" cy="320040"/>
          </a:xfrm>
          <a:prstGeom prst="rect">
            <a:avLst/>
          </a:prstGeom>
          <a:noFill/>
          <a:ln/>
        </p:spPr>
        <p:txBody>
          <a:bodyPr wrap="square" rtlCol="0" anchor="ctr"/>
          <a:lstStyle/>
          <a:p>
            <a:pPr indent="0" marL="0">
              <a:buNone/>
            </a:pPr>
            <a:r>
              <a:rPr lang="en-US" sz="1200" dirty="0">
                <a:solidFill>
                  <a:srgbClr val="C7D8EC"/>
                </a:solidFill>
                <a:latin typeface="Calibri" pitchFamily="34" charset="0"/>
                <a:ea typeface="Calibri" pitchFamily="34" charset="-122"/>
                <a:cs typeface="Calibri" pitchFamily="34" charset="-120"/>
              </a:rPr>
              <a:t>Merci à M. Aymen Ben Brik pour l'encadrement, et à ESPRIT School of Business.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548640" cy="384048"/>
          </a:xfrm>
          <a:prstGeom prst="rect">
            <a:avLst/>
          </a:prstGeom>
          <a:solidFill>
            <a:srgbClr val="C8102E"/>
          </a:solidFill>
          <a:ln w="12700">
            <a:solidFill>
              <a:srgbClr val="C8102E"/>
            </a:solidFill>
            <a:prstDash val="solid"/>
          </a:ln>
        </p:spPr>
      </p:sp>
      <p:sp>
        <p:nvSpPr>
          <p:cNvPr id="3" name="Text 1"/>
          <p:cNvSpPr/>
          <p:nvPr/>
        </p:nvSpPr>
        <p:spPr>
          <a:xfrm>
            <a:off x="457200" y="320040"/>
            <a:ext cx="54864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ESB</a:t>
            </a:r>
            <a:endParaRPr lang="en-US" sz="1100" dirty="0"/>
          </a:p>
        </p:txBody>
      </p:sp>
      <p:sp>
        <p:nvSpPr>
          <p:cNvPr id="4" name="Text 2"/>
          <p:cNvSpPr/>
          <p:nvPr/>
        </p:nvSpPr>
        <p:spPr>
          <a:xfrm>
            <a:off x="1097280" y="292608"/>
            <a:ext cx="5943600" cy="457200"/>
          </a:xfrm>
          <a:prstGeom prst="rect">
            <a:avLst/>
          </a:prstGeom>
          <a:noFill/>
          <a:ln/>
        </p:spPr>
        <p:txBody>
          <a:bodyPr wrap="square" rtlCol="0" anchor="ctr"/>
          <a:lstStyle/>
          <a:p>
            <a:pPr indent="0" marL="0">
              <a:buNone/>
            </a:pPr>
            <a:r>
              <a:rPr lang="en-US" sz="1200" b="1" dirty="0">
                <a:solidFill>
                  <a:srgbClr val="073763"/>
                </a:solidFill>
                <a:latin typeface="Calibri" pitchFamily="34" charset="0"/>
                <a:ea typeface="Calibri" pitchFamily="34" charset="-122"/>
                <a:cs typeface="Calibri" pitchFamily="34" charset="-120"/>
              </a:rPr>
              <a:t>ESPRIT School of Business — M1 Business Analytics</a:t>
            </a:r>
            <a:endParaRPr lang="en-US" sz="1200" dirty="0"/>
          </a:p>
        </p:txBody>
      </p:sp>
      <p:sp>
        <p:nvSpPr>
          <p:cNvPr id="5" name="Shape 3"/>
          <p:cNvSpPr/>
          <p:nvPr/>
        </p:nvSpPr>
        <p:spPr>
          <a:xfrm>
            <a:off x="9082735" y="329184"/>
            <a:ext cx="1828800" cy="384048"/>
          </a:xfrm>
          <a:prstGeom prst="roundRect">
            <a:avLst>
              <a:gd name="adj" fmla="val 50000"/>
            </a:avLst>
          </a:prstGeom>
          <a:solidFill>
            <a:srgbClr val="E8EEF6"/>
          </a:solidFill>
          <a:ln w="12700">
            <a:solidFill>
              <a:srgbClr val="E8EEF6"/>
            </a:solidFill>
            <a:prstDash val="solid"/>
          </a:ln>
        </p:spPr>
      </p:sp>
      <p:sp>
        <p:nvSpPr>
          <p:cNvPr id="6" name="Text 4"/>
          <p:cNvSpPr/>
          <p:nvPr/>
        </p:nvSpPr>
        <p:spPr>
          <a:xfrm>
            <a:off x="9082735" y="329184"/>
            <a:ext cx="1828800" cy="384048"/>
          </a:xfrm>
          <a:prstGeom prst="rect">
            <a:avLst/>
          </a:prstGeom>
          <a:noFill/>
          <a:ln/>
        </p:spPr>
        <p:txBody>
          <a:bodyPr wrap="square" rtlCol="0" anchor="ctr"/>
          <a:lstStyle/>
          <a:p>
            <a:pPr algn="ctr" indent="0" marL="0">
              <a:buNone/>
            </a:pPr>
            <a:r>
              <a:rPr lang="en-US" sz="1100" b="1" spc="200" kern="0" dirty="0">
                <a:solidFill>
                  <a:srgbClr val="073763"/>
                </a:solidFill>
                <a:latin typeface="Calibri" pitchFamily="34" charset="0"/>
                <a:ea typeface="Calibri" pitchFamily="34" charset="-122"/>
                <a:cs typeface="Calibri" pitchFamily="34" charset="-120"/>
              </a:rPr>
              <a:t>Organisation</a:t>
            </a:r>
            <a:endParaRPr lang="en-US" sz="1100" dirty="0"/>
          </a:p>
        </p:txBody>
      </p:sp>
      <p:sp>
        <p:nvSpPr>
          <p:cNvPr id="7" name="Text 5"/>
          <p:cNvSpPr/>
          <p:nvPr/>
        </p:nvSpPr>
        <p:spPr>
          <a:xfrm>
            <a:off x="11002975" y="329184"/>
            <a:ext cx="822960" cy="384048"/>
          </a:xfrm>
          <a:prstGeom prst="rect">
            <a:avLst/>
          </a:prstGeom>
          <a:noFill/>
          <a:ln/>
        </p:spPr>
        <p:txBody>
          <a:bodyPr wrap="square" rtlCol="0" anchor="ctr"/>
          <a:lstStyle/>
          <a:p>
            <a:pPr algn="r" indent="0" marL="0">
              <a:buNone/>
            </a:pPr>
            <a:r>
              <a:rPr lang="en-US" sz="1200" b="1" dirty="0">
                <a:solidFill>
                  <a:srgbClr val="4A5568"/>
                </a:solidFill>
                <a:latin typeface="Calibri" pitchFamily="34" charset="0"/>
                <a:ea typeface="Calibri" pitchFamily="34" charset="-122"/>
                <a:cs typeface="Calibri" pitchFamily="34" charset="-120"/>
              </a:rPr>
              <a:t>13 / 13</a:t>
            </a:r>
            <a:endParaRPr lang="en-US" sz="1200" dirty="0"/>
          </a:p>
        </p:txBody>
      </p:sp>
      <p:sp>
        <p:nvSpPr>
          <p:cNvPr id="8" name="Shape 6"/>
          <p:cNvSpPr/>
          <p:nvPr/>
        </p:nvSpPr>
        <p:spPr>
          <a:xfrm>
            <a:off x="457200" y="841248"/>
            <a:ext cx="11277295" cy="0"/>
          </a:xfrm>
          <a:prstGeom prst="line">
            <a:avLst/>
          </a:prstGeom>
          <a:noFill/>
          <a:ln w="15240">
            <a:solidFill>
              <a:srgbClr val="E2E8F0"/>
            </a:solidFill>
            <a:prstDash val="solid"/>
          </a:ln>
        </p:spPr>
      </p:sp>
      <p:sp>
        <p:nvSpPr>
          <p:cNvPr id="9" name="Text 7"/>
          <p:cNvSpPr/>
          <p:nvPr/>
        </p:nvSpPr>
        <p:spPr>
          <a:xfrm>
            <a:off x="457200" y="1051560"/>
            <a:ext cx="5486400" cy="274320"/>
          </a:xfrm>
          <a:prstGeom prst="rect">
            <a:avLst/>
          </a:prstGeom>
          <a:noFill/>
          <a:ln/>
        </p:spPr>
        <p:txBody>
          <a:bodyPr wrap="square" rtlCol="0" anchor="ctr"/>
          <a:lstStyle/>
          <a:p>
            <a:pPr indent="0" marL="0">
              <a:buNone/>
            </a:pPr>
            <a:r>
              <a:rPr lang="en-US" sz="1100" b="1" spc="400" kern="0" dirty="0">
                <a:solidFill>
                  <a:srgbClr val="0B5394"/>
                </a:solidFill>
                <a:latin typeface="Calibri" pitchFamily="34" charset="0"/>
                <a:ea typeface="Calibri" pitchFamily="34" charset="-122"/>
                <a:cs typeface="Calibri" pitchFamily="34" charset="-120"/>
              </a:rPr>
              <a:t>COMMENT ON A TRAVAILLÉ</a:t>
            </a:r>
            <a:endParaRPr lang="en-US" sz="1100" dirty="0"/>
          </a:p>
        </p:txBody>
      </p:sp>
      <p:sp>
        <p:nvSpPr>
          <p:cNvPr id="10" name="Text 8"/>
          <p:cNvSpPr/>
          <p:nvPr/>
        </p:nvSpPr>
        <p:spPr>
          <a:xfrm>
            <a:off x="457200" y="1371600"/>
            <a:ext cx="10058400" cy="822960"/>
          </a:xfrm>
          <a:prstGeom prst="rect">
            <a:avLst/>
          </a:prstGeom>
          <a:noFill/>
          <a:ln/>
        </p:spPr>
        <p:txBody>
          <a:bodyPr wrap="square" rtlCol="0" anchor="ctr"/>
          <a:lstStyle/>
          <a:p>
            <a:pPr indent="0" marL="0">
              <a:buNone/>
            </a:pPr>
            <a:r>
              <a:rPr lang="en-US" sz="3600" b="1" dirty="0">
                <a:solidFill>
                  <a:srgbClr val="073763"/>
                </a:solidFill>
                <a:latin typeface="Calibri" pitchFamily="34" charset="0"/>
                <a:ea typeface="Calibri" pitchFamily="34" charset="-122"/>
                <a:cs typeface="Calibri" pitchFamily="34" charset="-120"/>
              </a:rPr>
              <a:t>Transversal, pas en silos.</a:t>
            </a:r>
            <a:endParaRPr lang="en-US" sz="3600" dirty="0"/>
          </a:p>
        </p:txBody>
      </p:sp>
      <p:sp>
        <p:nvSpPr>
          <p:cNvPr id="11" name="Shape 9"/>
          <p:cNvSpPr/>
          <p:nvPr/>
        </p:nvSpPr>
        <p:spPr>
          <a:xfrm>
            <a:off x="457200" y="2651760"/>
            <a:ext cx="3576218" cy="2377440"/>
          </a:xfrm>
          <a:prstGeom prst="roundRect">
            <a:avLst>
              <a:gd name="adj" fmla="val 4615"/>
            </a:avLst>
          </a:prstGeom>
          <a:solidFill>
            <a:srgbClr val="FFFFFF"/>
          </a:solidFill>
          <a:ln w="12700">
            <a:solidFill>
              <a:srgbClr val="E2E8F0"/>
            </a:solidFill>
            <a:prstDash val="solid"/>
          </a:ln>
        </p:spPr>
      </p:sp>
      <p:sp>
        <p:nvSpPr>
          <p:cNvPr id="12" name="Text 10"/>
          <p:cNvSpPr/>
          <p:nvPr/>
        </p:nvSpPr>
        <p:spPr>
          <a:xfrm>
            <a:off x="731520" y="2926080"/>
            <a:ext cx="3027578" cy="274320"/>
          </a:xfrm>
          <a:prstGeom prst="rect">
            <a:avLst/>
          </a:prstGeom>
          <a:noFill/>
          <a:ln/>
        </p:spPr>
        <p:txBody>
          <a:bodyPr wrap="square" rtlCol="0" anchor="ctr"/>
          <a:lstStyle/>
          <a:p>
            <a:pPr indent="0" marL="0">
              <a:buNone/>
            </a:pPr>
            <a:r>
              <a:rPr lang="en-US" sz="1000" b="1" spc="300" kern="0" dirty="0">
                <a:solidFill>
                  <a:srgbClr val="0B5394"/>
                </a:solidFill>
                <a:latin typeface="Calibri" pitchFamily="34" charset="0"/>
                <a:ea typeface="Calibri" pitchFamily="34" charset="-122"/>
                <a:cs typeface="Calibri" pitchFamily="34" charset="-120"/>
              </a:rPr>
              <a:t>BRANCHE</a:t>
            </a:r>
            <a:endParaRPr lang="en-US" sz="1000" dirty="0"/>
          </a:p>
        </p:txBody>
      </p:sp>
      <p:sp>
        <p:nvSpPr>
          <p:cNvPr id="13" name="Text 11"/>
          <p:cNvSpPr/>
          <p:nvPr/>
        </p:nvSpPr>
        <p:spPr>
          <a:xfrm>
            <a:off x="731520" y="3337560"/>
            <a:ext cx="3027578" cy="822960"/>
          </a:xfrm>
          <a:prstGeom prst="rect">
            <a:avLst/>
          </a:prstGeom>
          <a:noFill/>
          <a:ln/>
        </p:spPr>
        <p:txBody>
          <a:bodyPr wrap="square" rtlCol="0" anchor="ctr"/>
          <a:lstStyle/>
          <a:p>
            <a:pPr indent="0" marL="0">
              <a:buNone/>
            </a:pPr>
            <a:r>
              <a:rPr lang="en-US" sz="2600" b="1" dirty="0">
                <a:solidFill>
                  <a:srgbClr val="073763"/>
                </a:solidFill>
                <a:latin typeface="Consolas" pitchFamily="34" charset="0"/>
                <a:ea typeface="Consolas" pitchFamily="34" charset="-122"/>
                <a:cs typeface="Consolas" pitchFamily="34" charset="-120"/>
              </a:rPr>
              <a:t>main</a:t>
            </a:r>
            <a:endParaRPr lang="en-US" sz="2600" dirty="0"/>
          </a:p>
        </p:txBody>
      </p:sp>
      <p:sp>
        <p:nvSpPr>
          <p:cNvPr id="14" name="Text 12"/>
          <p:cNvSpPr/>
          <p:nvPr/>
        </p:nvSpPr>
        <p:spPr>
          <a:xfrm>
            <a:off x="731520" y="4251960"/>
            <a:ext cx="3027578"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Intégration &amp; production</a:t>
            </a:r>
            <a:endParaRPr lang="en-US" sz="1400" dirty="0"/>
          </a:p>
        </p:txBody>
      </p:sp>
      <p:sp>
        <p:nvSpPr>
          <p:cNvPr id="15" name="Shape 13"/>
          <p:cNvSpPr/>
          <p:nvPr/>
        </p:nvSpPr>
        <p:spPr>
          <a:xfrm>
            <a:off x="4307738" y="2651760"/>
            <a:ext cx="3576218" cy="2377440"/>
          </a:xfrm>
          <a:prstGeom prst="roundRect">
            <a:avLst>
              <a:gd name="adj" fmla="val 4615"/>
            </a:avLst>
          </a:prstGeom>
          <a:solidFill>
            <a:srgbClr val="FFFFFF"/>
          </a:solidFill>
          <a:ln w="12700">
            <a:solidFill>
              <a:srgbClr val="E2E8F0"/>
            </a:solidFill>
            <a:prstDash val="solid"/>
          </a:ln>
        </p:spPr>
      </p:sp>
      <p:sp>
        <p:nvSpPr>
          <p:cNvPr id="16" name="Text 14"/>
          <p:cNvSpPr/>
          <p:nvPr/>
        </p:nvSpPr>
        <p:spPr>
          <a:xfrm>
            <a:off x="4582058" y="2926080"/>
            <a:ext cx="3027578" cy="274320"/>
          </a:xfrm>
          <a:prstGeom prst="rect">
            <a:avLst/>
          </a:prstGeom>
          <a:noFill/>
          <a:ln/>
        </p:spPr>
        <p:txBody>
          <a:bodyPr wrap="square" rtlCol="0" anchor="ctr"/>
          <a:lstStyle/>
          <a:p>
            <a:pPr indent="0" marL="0">
              <a:buNone/>
            </a:pPr>
            <a:r>
              <a:rPr lang="en-US" sz="1000" b="1" spc="300" kern="0" dirty="0">
                <a:solidFill>
                  <a:srgbClr val="0B5394"/>
                </a:solidFill>
                <a:latin typeface="Calibri" pitchFamily="34" charset="0"/>
                <a:ea typeface="Calibri" pitchFamily="34" charset="-122"/>
                <a:cs typeface="Calibri" pitchFamily="34" charset="-120"/>
              </a:rPr>
              <a:t>BRANCHE</a:t>
            </a:r>
            <a:endParaRPr lang="en-US" sz="1000" dirty="0"/>
          </a:p>
        </p:txBody>
      </p:sp>
      <p:sp>
        <p:nvSpPr>
          <p:cNvPr id="17" name="Text 15"/>
          <p:cNvSpPr/>
          <p:nvPr/>
        </p:nvSpPr>
        <p:spPr>
          <a:xfrm>
            <a:off x="4582058" y="3337560"/>
            <a:ext cx="3027578" cy="822960"/>
          </a:xfrm>
          <a:prstGeom prst="rect">
            <a:avLst/>
          </a:prstGeom>
          <a:noFill/>
          <a:ln/>
        </p:spPr>
        <p:txBody>
          <a:bodyPr wrap="square" rtlCol="0" anchor="ctr"/>
          <a:lstStyle/>
          <a:p>
            <a:pPr indent="0" marL="0">
              <a:buNone/>
            </a:pPr>
            <a:r>
              <a:rPr lang="en-US" sz="2200" b="1" dirty="0">
                <a:solidFill>
                  <a:srgbClr val="073763"/>
                </a:solidFill>
                <a:latin typeface="Consolas" pitchFamily="34" charset="0"/>
                <a:ea typeface="Consolas" pitchFamily="34" charset="-122"/>
                <a:cs typeface="Consolas" pitchFamily="34" charset="-120"/>
              </a:rPr>
              <a:t>ETL_EyaFares</a:t>
            </a:r>
            <a:endParaRPr lang="en-US" sz="2200" dirty="0"/>
          </a:p>
        </p:txBody>
      </p:sp>
      <p:sp>
        <p:nvSpPr>
          <p:cNvPr id="18" name="Text 16"/>
          <p:cNvSpPr/>
          <p:nvPr/>
        </p:nvSpPr>
        <p:spPr>
          <a:xfrm>
            <a:off x="4582058" y="4251960"/>
            <a:ext cx="3027578"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ETL, nettoyage, warehouse</a:t>
            </a:r>
            <a:endParaRPr lang="en-US" sz="1400" dirty="0"/>
          </a:p>
        </p:txBody>
      </p:sp>
      <p:sp>
        <p:nvSpPr>
          <p:cNvPr id="19" name="Shape 17"/>
          <p:cNvSpPr/>
          <p:nvPr/>
        </p:nvSpPr>
        <p:spPr>
          <a:xfrm>
            <a:off x="8158277" y="2651760"/>
            <a:ext cx="3576218" cy="2377440"/>
          </a:xfrm>
          <a:prstGeom prst="roundRect">
            <a:avLst>
              <a:gd name="adj" fmla="val 4615"/>
            </a:avLst>
          </a:prstGeom>
          <a:solidFill>
            <a:srgbClr val="FFFFFF"/>
          </a:solidFill>
          <a:ln w="12700">
            <a:solidFill>
              <a:srgbClr val="E2E8F0"/>
            </a:solidFill>
            <a:prstDash val="solid"/>
          </a:ln>
        </p:spPr>
      </p:sp>
      <p:sp>
        <p:nvSpPr>
          <p:cNvPr id="20" name="Text 18"/>
          <p:cNvSpPr/>
          <p:nvPr/>
        </p:nvSpPr>
        <p:spPr>
          <a:xfrm>
            <a:off x="8432597" y="2926080"/>
            <a:ext cx="3027578" cy="274320"/>
          </a:xfrm>
          <a:prstGeom prst="rect">
            <a:avLst/>
          </a:prstGeom>
          <a:noFill/>
          <a:ln/>
        </p:spPr>
        <p:txBody>
          <a:bodyPr wrap="square" rtlCol="0" anchor="ctr"/>
          <a:lstStyle/>
          <a:p>
            <a:pPr indent="0" marL="0">
              <a:buNone/>
            </a:pPr>
            <a:r>
              <a:rPr lang="en-US" sz="1000" b="1" spc="300" kern="0" dirty="0">
                <a:solidFill>
                  <a:srgbClr val="0B5394"/>
                </a:solidFill>
                <a:latin typeface="Calibri" pitchFamily="34" charset="0"/>
                <a:ea typeface="Calibri" pitchFamily="34" charset="-122"/>
                <a:cs typeface="Calibri" pitchFamily="34" charset="-120"/>
              </a:rPr>
              <a:t>BRANCHE</a:t>
            </a:r>
            <a:endParaRPr lang="en-US" sz="1000" dirty="0"/>
          </a:p>
        </p:txBody>
      </p:sp>
      <p:sp>
        <p:nvSpPr>
          <p:cNvPr id="21" name="Text 19"/>
          <p:cNvSpPr/>
          <p:nvPr/>
        </p:nvSpPr>
        <p:spPr>
          <a:xfrm>
            <a:off x="8432597" y="3337560"/>
            <a:ext cx="3027578" cy="822960"/>
          </a:xfrm>
          <a:prstGeom prst="rect">
            <a:avLst/>
          </a:prstGeom>
          <a:noFill/>
          <a:ln/>
        </p:spPr>
        <p:txBody>
          <a:bodyPr wrap="square" rtlCol="0" anchor="ctr"/>
          <a:lstStyle/>
          <a:p>
            <a:pPr indent="0" marL="0">
              <a:buNone/>
            </a:pPr>
            <a:r>
              <a:rPr lang="en-US" sz="2000" b="1" dirty="0">
                <a:solidFill>
                  <a:srgbClr val="073763"/>
                </a:solidFill>
                <a:latin typeface="Consolas" pitchFamily="34" charset="0"/>
                <a:ea typeface="Consolas" pitchFamily="34" charset="-122"/>
                <a:cs typeface="Consolas" pitchFamily="34" charset="-120"/>
              </a:rPr>
              <a:t>AishaHamzaSahar</a:t>
            </a:r>
            <a:endParaRPr lang="en-US" sz="2000" dirty="0"/>
          </a:p>
        </p:txBody>
      </p:sp>
      <p:sp>
        <p:nvSpPr>
          <p:cNvPr id="22" name="Text 20"/>
          <p:cNvSpPr/>
          <p:nvPr/>
        </p:nvSpPr>
        <p:spPr>
          <a:xfrm>
            <a:off x="8432597" y="4251960"/>
            <a:ext cx="3027578" cy="457200"/>
          </a:xfrm>
          <a:prstGeom prst="rect">
            <a:avLst/>
          </a:prstGeom>
          <a:noFill/>
          <a:ln/>
        </p:spPr>
        <p:txBody>
          <a:bodyPr wrap="square" rtlCol="0" anchor="ctr"/>
          <a:lstStyle/>
          <a:p>
            <a:pPr indent="0" marL="0">
              <a:buNone/>
            </a:pPr>
            <a:r>
              <a:rPr lang="en-US" sz="1400" dirty="0">
                <a:solidFill>
                  <a:srgbClr val="4A5568"/>
                </a:solidFill>
                <a:latin typeface="Calibri" pitchFamily="34" charset="0"/>
                <a:ea typeface="Calibri" pitchFamily="34" charset="-122"/>
                <a:cs typeface="Calibri" pitchFamily="34" charset="-120"/>
              </a:rPr>
              <a:t>BI, ML, application</a:t>
            </a:r>
            <a:endParaRPr lang="en-US" sz="1400" dirty="0"/>
          </a:p>
        </p:txBody>
      </p:sp>
      <p:sp>
        <p:nvSpPr>
          <p:cNvPr id="23" name="Shape 21"/>
          <p:cNvSpPr/>
          <p:nvPr/>
        </p:nvSpPr>
        <p:spPr>
          <a:xfrm>
            <a:off x="457200" y="5623560"/>
            <a:ext cx="1527048" cy="411480"/>
          </a:xfrm>
          <a:prstGeom prst="roundRect">
            <a:avLst>
              <a:gd name="adj" fmla="val 50000"/>
            </a:avLst>
          </a:prstGeom>
          <a:solidFill>
            <a:srgbClr val="0B5394"/>
          </a:solidFill>
          <a:ln w="12700">
            <a:solidFill>
              <a:srgbClr val="0B5394"/>
            </a:solidFill>
            <a:prstDash val="solid"/>
          </a:ln>
        </p:spPr>
      </p:sp>
      <p:sp>
        <p:nvSpPr>
          <p:cNvPr id="24" name="Text 22"/>
          <p:cNvSpPr/>
          <p:nvPr/>
        </p:nvSpPr>
        <p:spPr>
          <a:xfrm>
            <a:off x="457200" y="5623560"/>
            <a:ext cx="1527048"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Suivi Trello</a:t>
            </a:r>
            <a:endParaRPr lang="en-US" sz="1100" dirty="0"/>
          </a:p>
        </p:txBody>
      </p:sp>
      <p:sp>
        <p:nvSpPr>
          <p:cNvPr id="25" name="Shape 23"/>
          <p:cNvSpPr/>
          <p:nvPr/>
        </p:nvSpPr>
        <p:spPr>
          <a:xfrm>
            <a:off x="2167128" y="5623560"/>
            <a:ext cx="2935224" cy="411480"/>
          </a:xfrm>
          <a:prstGeom prst="roundRect">
            <a:avLst>
              <a:gd name="adj" fmla="val 50000"/>
            </a:avLst>
          </a:prstGeom>
          <a:solidFill>
            <a:srgbClr val="FFFFFF"/>
          </a:solidFill>
          <a:ln w="12700">
            <a:solidFill>
              <a:srgbClr val="E2E8F0"/>
            </a:solidFill>
            <a:prstDash val="solid"/>
          </a:ln>
        </p:spPr>
      </p:sp>
      <p:sp>
        <p:nvSpPr>
          <p:cNvPr id="26" name="Text 24"/>
          <p:cNvSpPr/>
          <p:nvPr/>
        </p:nvSpPr>
        <p:spPr>
          <a:xfrm>
            <a:off x="2167128" y="5623560"/>
            <a:ext cx="2935224" cy="41148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Revue croisée systématique</a:t>
            </a:r>
            <a:endParaRPr lang="en-US" sz="1100" dirty="0"/>
          </a:p>
        </p:txBody>
      </p:sp>
      <p:sp>
        <p:nvSpPr>
          <p:cNvPr id="27" name="Shape 25"/>
          <p:cNvSpPr/>
          <p:nvPr/>
        </p:nvSpPr>
        <p:spPr>
          <a:xfrm>
            <a:off x="5285232" y="5623560"/>
            <a:ext cx="3136392" cy="411480"/>
          </a:xfrm>
          <a:prstGeom prst="roundRect">
            <a:avLst>
              <a:gd name="adj" fmla="val 50000"/>
            </a:avLst>
          </a:prstGeom>
          <a:solidFill>
            <a:srgbClr val="FFFFFF"/>
          </a:solidFill>
          <a:ln w="12700">
            <a:solidFill>
              <a:srgbClr val="E2E8F0"/>
            </a:solidFill>
            <a:prstDash val="solid"/>
          </a:ln>
        </p:spPr>
      </p:sp>
      <p:sp>
        <p:nvSpPr>
          <p:cNvPr id="28" name="Text 26"/>
          <p:cNvSpPr/>
          <p:nvPr/>
        </p:nvSpPr>
        <p:spPr>
          <a:xfrm>
            <a:off x="5285232" y="5623560"/>
            <a:ext cx="3136392" cy="411480"/>
          </a:xfrm>
          <a:prstGeom prst="rect">
            <a:avLst/>
          </a:prstGeom>
          <a:noFill/>
          <a:ln/>
        </p:spPr>
        <p:txBody>
          <a:bodyPr wrap="square"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5 contributeurs · 1 pipeline</a:t>
            </a:r>
            <a:endParaRPr lang="en-US" sz="1100" dirty="0"/>
          </a:p>
        </p:txBody>
      </p:sp>
      <p:sp>
        <p:nvSpPr>
          <p:cNvPr id="29" name="Text 27"/>
          <p:cNvSpPr/>
          <p:nvPr/>
        </p:nvSpPr>
        <p:spPr>
          <a:xfrm>
            <a:off x="457200" y="6492240"/>
            <a:ext cx="73152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Analyse &amp; Prédiction du Churn Client Bancaire</a:t>
            </a:r>
            <a:endParaRPr lang="en-US" sz="1000" dirty="0"/>
          </a:p>
        </p:txBody>
      </p:sp>
      <p:sp>
        <p:nvSpPr>
          <p:cNvPr id="30" name="Text 28"/>
          <p:cNvSpPr/>
          <p:nvPr/>
        </p:nvSpPr>
        <p:spPr>
          <a:xfrm>
            <a:off x="9905695" y="6492240"/>
            <a:ext cx="1828800" cy="274320"/>
          </a:xfrm>
          <a:prstGeom prst="rect">
            <a:avLst/>
          </a:prstGeom>
          <a:noFill/>
          <a:ln/>
        </p:spPr>
        <p:txBody>
          <a:bodyPr wrap="square" rtlCol="0" anchor="ctr"/>
          <a:lstStyle/>
          <a:p>
            <a:pPr algn="r" indent="0" marL="0">
              <a:buNone/>
            </a:pPr>
            <a:r>
              <a:rPr lang="en-US" sz="1000" dirty="0">
                <a:solidFill>
                  <a:srgbClr val="4A5568"/>
                </a:solidFill>
                <a:latin typeface="Calibri" pitchFamily="34" charset="0"/>
                <a:ea typeface="Calibri" pitchFamily="34" charset="-122"/>
                <a:cs typeface="Calibri" pitchFamily="34" charset="-120"/>
              </a:rPr>
              <a:t>Juillet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ESPRIT School of Business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 Bancaire — Soutenance M1 Business Analytics ESB</dc:title>
  <dc:subject>PptxGenJS Presentation</dc:subject>
  <dc:creator>Feres Messedi, Eya Bhrouni, Hamza Bouguerra, Aïcha Soltani, Sahar Khalfellaoui</dc:creator>
  <cp:lastModifiedBy>Feres Messedi, Eya Bhrouni, Hamza Bouguerra, Aïcha Soltani, Sahar Khalfellaoui</cp:lastModifiedBy>
  <cp:revision>1</cp:revision>
  <dcterms:created xsi:type="dcterms:W3CDTF">2026-07-07T19:14:37Z</dcterms:created>
  <dcterms:modified xsi:type="dcterms:W3CDTF">2026-07-07T19:14:37Z</dcterms:modified>
</cp:coreProperties>
</file>