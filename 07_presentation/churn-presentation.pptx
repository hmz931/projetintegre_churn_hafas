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presenter brievement (equipe HAFAS-K), remercier le tuteur M. Ben Brik, annoncer le plan en une phrase : de l'exploration des donnees a une application deployee.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l'enjeu metier : le cout d'acquisition d'un client est nettement superieur au cout de retention. Enoncer les 6 objectifs comme fil conducteur de la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Donner le volume brut puis la reduction apres nettoyage. Bien insister sur la double definition du churn selon le grain : 36,1% grain compte (reference ML) vs 41,2% grain evenement (KPI Power BI).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Parcourir le schema de gauche a droite : la source alimente un pipeline Python, charge dans un entrepot PostgreSQL en etoile, qui nourrit Power BI et les notebooks ML, jusqu'a l'application Streamlit.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Raconter 2-3 bugs comme des anecdotes concretes : la pollution des dates d'ouverture (33 571 lignes) et la regle MARITAL_STATUS incomplete. Insister sur les 32 tests automatises comme garde-fou.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capture pgAdmin comme preuve du chargement reel. Expliquer le choix de cles de substitution textuelles prefixees, plus lisibles qu'un identifiant numerique.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3 pages du rapport Power BI + la page VaR. Donner les chiffres cles : 41,16% de churn, 319K clients, 58,84% de retention. Mentionner brievement le point de vigilance sur la VaR negative par segment.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Passer le tableau rapidement, puis s'arreter sur l'histoire de la fuite de donnees : un indicateur representait 89,5% du poids de decision. Souligner que le F1 a a peine bouge apres correction (0,9460 -&gt; 0,9465).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cette analyse complete le modele supervise a un autre grain (client). Donner les tailles reelles des 4 clusters K-means, en notant le cluster 2 comme cas extremes plutot qu'un vrai segment metier.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les 4 pages de l'app Streamlit et insister sur le fait que le modele, l'ordre des colonnes et l'encodeur de frequence sont serialises ensemble pour garantir un pretraitement identique entrainement/production.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explicitement qu'on bascule sur l'application reelle pendant 5 minutes : scoring individuel en direct, puis dashboard KPI. Revenir sur cette slide de plan avant d'enchainer sur les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Assumer les limites sans les minimiser. Mentionner l'incoherence entre notebook narratif et pipeline de production sur le taux de nullite de date_key, et l'absence de SHAP / cross-validation.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Boucler sur l'idee d'introduction : chaque etape a ete verifiee contre des donnees reelles plutot que supposee correcte par construction. Remercier l'encadrant et ouvrir sur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bonus, a n'utiliser que si le temps le permet. Montrer que le travail a ete transversal (branches Git par binomes/trinomes plutot que par silo metier strict) et suivi sur Trello.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315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INTÉGRÉ — M1 BUSINESS ANALYTICS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et Prédiction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Churn Client Bancaire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l'exploration des données au déploiement d'un modèle prédictif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10911535" cy="0"/>
          </a:xfrm>
          <a:prstGeom prst="line">
            <a:avLst/>
          </a:prstGeom>
          <a:noFill/>
          <a:ln w="12700">
            <a:solidFill>
              <a:srgbClr val="2A54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910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HAFAS-K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1846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Feres Messedi · Eya Bhrouni · Hamza Bouguerra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Aïcha Soltani · Sahar Khalfellaoui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4910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TUTEUR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5184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Aymen Ben Brik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4910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51846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ESPRIT School of Business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OBJECTIFS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prédire le churn a de la valeur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client perdu coûte bien plus qu'un client retenu — anticiper permet de cibler la rétention.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5029200" cy="3840480"/>
          </a:xfrm>
          <a:prstGeom prst="roundRect">
            <a:avLst>
              <a:gd name="adj" fmla="val 1905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2606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de rétention vs. acquisition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108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coût d'acquisition d'un nouveau client est classiquement estimé à plusieurs fois celui de la rétention d'un client existant.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41605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D'où l'intérêt d'un ciblage prédictif plutôt qu'une action de rétention non différenciée sur l'ensemble de la base client.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35040" y="2331720"/>
            <a:ext cx="5516575" cy="3840480"/>
          </a:xfrm>
          <a:prstGeom prst="roundRect">
            <a:avLst>
              <a:gd name="adj" fmla="val 1905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550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objectifs du projet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55080" y="310896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&amp; documenter la qualité des données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 pipeline ETL vers un entrepôt en étoile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Restituer les indicateurs clés via Power BI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le churn (modélisation supervisée)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Segmenter &amp; détecter les anomalies (non supervisé)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un scoring individuel en temps réel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extrait bancaire anonymisé, à deux grains d'analyse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19994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528 883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5146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brutes / 34 col.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822387" y="1965960"/>
            <a:ext cx="19994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445 803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822387" y="25146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événements nettoyés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04694" y="1965960"/>
            <a:ext cx="19994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410 587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004694" y="25146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uniques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87001" y="1965960"/>
            <a:ext cx="19994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319 129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187001" y="25146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uniques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369308" y="1965960"/>
            <a:ext cx="19994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369308" y="25146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200400"/>
            <a:ext cx="5272888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60120" y="34747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— grain compte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3886200"/>
            <a:ext cx="463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36,1%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960120" y="4663440"/>
            <a:ext cx="4632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 officielle : churn = 1 si ACCOUNT_STATUS = "Closed". Taux de référence utilisé pour la modélisation supervisée.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8728" y="3200400"/>
            <a:ext cx="5272888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98768" y="34747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— grain événement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98768" y="3886200"/>
            <a:ext cx="463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41,2%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6598768" y="4663440"/>
            <a:ext cx="4632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label propagé à chaque ligne produit ; plus élevé car les comptes fermés ont un nombre de produits associés différent en moyenne.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LA SOLUTION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étapes, un pipeline reproductible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étape consomme la sortie de la précédente et peut être ré-exécutée isolément.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017520"/>
            <a:ext cx="1377635" cy="1737360"/>
          </a:xfrm>
          <a:prstGeom prst="roundRect">
            <a:avLst>
              <a:gd name="adj" fmla="val 5310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3182112"/>
            <a:ext cx="1011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10118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931920"/>
            <a:ext cx="10118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data_churn.txt 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référentiels Excel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755" y="374904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023555" y="3017520"/>
            <a:ext cx="1377635" cy="1737360"/>
          </a:xfrm>
          <a:prstGeom prst="roundRect">
            <a:avLst>
              <a:gd name="adj" fmla="val 5310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206435" y="3182112"/>
            <a:ext cx="1011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06435" y="3520440"/>
            <a:ext cx="10118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06435" y="3931920"/>
            <a:ext cx="10118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30" y="374904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07030" y="3017520"/>
            <a:ext cx="1377635" cy="1737360"/>
          </a:xfrm>
          <a:prstGeom prst="roundRect">
            <a:avLst>
              <a:gd name="adj" fmla="val 5310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589910" y="3182112"/>
            <a:ext cx="1011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589910" y="3520440"/>
            <a:ext cx="10118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Entrepôt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589910" y="3931920"/>
            <a:ext cx="10118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en étoile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705" y="3749040"/>
            <a:ext cx="274320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790505" y="3017520"/>
            <a:ext cx="1377635" cy="1737360"/>
          </a:xfrm>
          <a:prstGeom prst="roundRect">
            <a:avLst>
              <a:gd name="adj" fmla="val 5310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7973385" y="3182112"/>
            <a:ext cx="1011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973385" y="3520440"/>
            <a:ext cx="10118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+ ML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973385" y="3931920"/>
            <a:ext cx="10118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/ XGBoost</a:t>
            </a:r>
            <a:endParaRPr lang="en-US" sz="10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180" y="3749040"/>
            <a:ext cx="274320" cy="2743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10173980" y="3017520"/>
            <a:ext cx="1377635" cy="1737360"/>
          </a:xfrm>
          <a:prstGeom prst="roundRect">
            <a:avLst>
              <a:gd name="adj" fmla="val 5310"/>
            </a:avLst>
          </a:prstGeom>
          <a:solidFill>
            <a:srgbClr val="FDEEF0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10356860" y="3182112"/>
            <a:ext cx="1011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0356860" y="3520440"/>
            <a:ext cx="10118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Streamlit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0356860" y="3931920"/>
            <a:ext cx="10118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individuel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anomalies réelles, trouvées et corrigées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272888" cy="2468880"/>
          </a:xfrm>
          <a:prstGeom prst="roundRect">
            <a:avLst>
              <a:gd name="adj" fmla="val 2963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2359152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 d'ouverture polluées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2724912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33 571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60120" y="3337560"/>
            <a:ext cx="4632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où ACCT_OPENING_DATE est postérieure à ACCT_CLOSE_DATE — dates proches de l'extraction du fichier, neutralisées plutôt que conservées fausses.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78728" y="2103120"/>
            <a:ext cx="5272888" cy="2468880"/>
          </a:xfrm>
          <a:prstGeom prst="roundRect">
            <a:avLst>
              <a:gd name="adj" fmla="val 2963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98768" y="2359152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MARITAL_STATUS incomplète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98768" y="2724912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598768" y="3337560"/>
            <a:ext cx="4632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personnes morales incohérentes : la règle ne s'appliquait qu'aux valeurs manquantes, laissant passer des valeurs déjà présentes.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5029200"/>
            <a:ext cx="3776472" cy="310896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502920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TESTS DE COHÉRENCE AUTOMATISÉS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45152" y="5029200"/>
            <a:ext cx="820216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5152" y="5029200"/>
            <a:ext cx="8202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CATÉGORIES : COMPLÉTUDE · DOMAINE · INTER-COLONNES · TEMPOREL · CARDINALITÉ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schéma en étoile chargé et validé sur serveur réel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dimensions + 1 table de faits (fact_account_event), toutes contraintes de clé étrangère appliquées sans erreur.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4251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 de substitution textuelles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645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3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CLI_000001  ·  DATE_00001  ·  ACC_0000001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50749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Largeur de zéro-remplissage calculée dynamiquement selon le volume — lecture facilitée, aucune ambiguïté avec un identifiant métier.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0" y="2103120"/>
            <a:ext cx="6065215" cy="3931920"/>
          </a:xfrm>
          <a:prstGeom prst="roundRect">
            <a:avLst>
              <a:gd name="adj" fmla="val 1395"/>
            </a:avLst>
          </a:prstGeom>
          <a:solidFill>
            <a:srgbClr val="FAFBFC"/>
          </a:solidFill>
          <a:ln w="15875">
            <a:solidFill>
              <a:srgbClr val="B9C4CD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5715000" y="2103120"/>
            <a:ext cx="56080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[Capture pgAdmin — inspection de dim_account, 7/7 tables chargées]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pages connectées à l'entrepôt de données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41,16%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churn global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7964" y="187452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319K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367964" y="242316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distincts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95848" y="187452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58,84%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095848" y="242316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rétention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823731" y="187452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5,42 Md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823731" y="242316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TND de VaR liée au churn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3063240"/>
            <a:ext cx="5318608" cy="1394460"/>
          </a:xfrm>
          <a:prstGeom prst="roundRect">
            <a:avLst>
              <a:gd name="adj" fmla="val 3934"/>
            </a:avLst>
          </a:prstGeom>
          <a:solidFill>
            <a:srgbClr val="FAFBFC"/>
          </a:solidFill>
          <a:ln w="15875">
            <a:solidFill>
              <a:srgbClr val="B9C4CD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868680" y="3063240"/>
            <a:ext cx="486140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[Capture Power BI — Vue d'ensemble]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33008" y="3063240"/>
            <a:ext cx="5318608" cy="1394460"/>
          </a:xfrm>
          <a:prstGeom prst="roundRect">
            <a:avLst>
              <a:gd name="adj" fmla="val 3934"/>
            </a:avLst>
          </a:prstGeom>
          <a:solidFill>
            <a:srgbClr val="FAFBFC"/>
          </a:solidFill>
          <a:ln w="15875">
            <a:solidFill>
              <a:srgbClr val="B9C4CD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6461608" y="3063240"/>
            <a:ext cx="486140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[Capture Power BI — Analyse du profil client]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4732020"/>
            <a:ext cx="5318608" cy="1394460"/>
          </a:xfrm>
          <a:prstGeom prst="roundRect">
            <a:avLst>
              <a:gd name="adj" fmla="val 3934"/>
            </a:avLst>
          </a:prstGeom>
          <a:solidFill>
            <a:srgbClr val="FAFBFC"/>
          </a:solidFill>
          <a:ln w="15875">
            <a:solidFill>
              <a:srgbClr val="B9C4CD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868680" y="4732020"/>
            <a:ext cx="486140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[Capture Power BI — Produits &amp; risque financier]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33008" y="4732020"/>
            <a:ext cx="5318608" cy="1394460"/>
          </a:xfrm>
          <a:prstGeom prst="roundRect">
            <a:avLst>
              <a:gd name="adj" fmla="val 3934"/>
            </a:avLst>
          </a:prstGeom>
          <a:solidFill>
            <a:srgbClr val="FAFBFC"/>
          </a:solidFill>
          <a:ln w="15875">
            <a:solidFill>
              <a:srgbClr val="B9C4CD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6461608" y="4732020"/>
            <a:ext cx="486140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[Capture Power BI — Décomposition de la VaR]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retenu — après une fuite de données détectée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766560" cy="393192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3A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Modèle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3A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3A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Régression logistique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0,6963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≈0,87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≈0,95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Arbre de décision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0,9438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0,9758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Forêt aléatoire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0,9329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0,9772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≈0,70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≈0,85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3A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 — retenu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3A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0,9465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3A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0,9823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2103120"/>
            <a:ext cx="3779215" cy="3931920"/>
          </a:xfrm>
          <a:prstGeom prst="roundRect">
            <a:avLst>
              <a:gd name="adj" fmla="val 1936"/>
            </a:avLst>
          </a:prstGeom>
          <a:solidFill>
            <a:srgbClr val="FDEEF0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046720" y="237744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fuite détectée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046720" y="2816352"/>
            <a:ext cx="3230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89,5%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8046720" y="3520440"/>
            <a:ext cx="32305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poids de décision reposait sur un indicateur artefact (nullité de la durée de compte) — un quasi-proxy du label, retiré du modèle.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046720" y="4846320"/>
            <a:ext cx="3230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quasi inchangé après correction : preuve de rigueur, pas de perte de performance.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DATAMINING NON SUPERVISÉ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client &amp; détection d'anomalies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423818" cy="3840480"/>
          </a:xfrm>
          <a:prstGeom prst="roundRect">
            <a:avLst>
              <a:gd name="adj" fmla="val 2137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4231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54,46%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variance expliquée par les 2 premières composantes (74,02% avec 3 composantes).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3938" y="2148840"/>
            <a:ext cx="3423818" cy="3840480"/>
          </a:xfrm>
          <a:prstGeom prst="roundRect">
            <a:avLst>
              <a:gd name="adj" fmla="val 2137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58258" y="24231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— 4 segments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58258" y="2862072"/>
            <a:ext cx="287517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125 603 — salaire moyen, âge élevé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22 615 — salaire élevé, forte adhésion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cas extrêmes (hors segment)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170 899 — profil jeune, faible engagement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27797" y="2148840"/>
            <a:ext cx="3423818" cy="3840480"/>
          </a:xfrm>
          <a:prstGeom prst="roundRect">
            <a:avLst>
              <a:gd name="adj" fmla="val 2137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02117" y="24231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02117" y="283464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3 192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402117" y="347472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anormaux détectés (≈1% de la base), concentrés en partie dans le segment jeune à faible engagement.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— le modèle mis entre les mains d'un conseiller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4480560" cy="811530"/>
          </a:xfrm>
          <a:prstGeom prst="roundRect">
            <a:avLst>
              <a:gd name="adj" fmla="val 9014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212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542032"/>
            <a:ext cx="3931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 du jeu de données.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3143250"/>
            <a:ext cx="4480560" cy="811530"/>
          </a:xfrm>
          <a:prstGeom prst="roundRect">
            <a:avLst>
              <a:gd name="adj" fmla="val 9014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325297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individuel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582162"/>
            <a:ext cx="3931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Saisie des caractéristiques d'un client / compte, prédiction en temps réel.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183380"/>
            <a:ext cx="4480560" cy="811530"/>
          </a:xfrm>
          <a:prstGeom prst="roundRect">
            <a:avLst>
              <a:gd name="adj" fmla="val 9014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42931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KPI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4622292"/>
            <a:ext cx="3931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interactifs.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5223510"/>
            <a:ext cx="4480560" cy="811530"/>
          </a:xfrm>
          <a:prstGeom prst="roundRect">
            <a:avLst>
              <a:gd name="adj" fmla="val 9014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14400" y="533323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5662422"/>
            <a:ext cx="3931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0" y="2103120"/>
            <a:ext cx="6065215" cy="3931920"/>
          </a:xfrm>
          <a:prstGeom prst="roundRect">
            <a:avLst>
              <a:gd name="adj" fmla="val 1395"/>
            </a:avLst>
          </a:prstGeom>
          <a:solidFill>
            <a:srgbClr val="FAFBFC"/>
          </a:solidFill>
          <a:ln w="15875">
            <a:solidFill>
              <a:srgbClr val="B9C4CD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715000" y="2103120"/>
            <a:ext cx="56080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[Capture Streamlit — écran de scoring individuel]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LIVE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Basculons sur l'application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de démonstration en direct de l'application Streamlit.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4231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programme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200400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individuel en temps réel sur un compte type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du dashboard KPI intégré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rapide sur la cohérence modèle ↔ application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2423160"/>
            <a:ext cx="5608015" cy="3566160"/>
          </a:xfrm>
          <a:prstGeom prst="roundRect">
            <a:avLst>
              <a:gd name="adj" fmla="val 1538"/>
            </a:avLst>
          </a:prstGeom>
          <a:solidFill>
            <a:srgbClr val="FAFBFC"/>
          </a:solidFill>
          <a:ln w="15875">
            <a:solidFill>
              <a:srgbClr val="B9C4CD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6172200" y="2423160"/>
            <a:ext cx="515081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[Placeholder démo — basculer vers l'onglet navigateur de l'application Streamlit]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PERSPECTIVES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reste à faire, assumé explicitement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272888" cy="3931920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2359152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connues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816352"/>
            <a:ext cx="46328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validation croisée (k-fold) — un seul découpage train/test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d'optimisation d'hyperparamètres (GridSearchCV)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d'explicabilité par instance (SHAP)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Incohérence notebook vs. pipeline sur date_key (22,5% vs 30,1%)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Power BI : valeurs négatives sur certains segments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8728" y="2103120"/>
            <a:ext cx="5272888" cy="3931920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98768" y="2359152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98768" y="2816352"/>
            <a:ext cx="46328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systématique des corrections ETL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croisée + recherche d'hyperparamètres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de SHAP (contexte réglementaire bancaire)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Rapprochement segmentation K-means × score de churn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effectif de l'application et lien de démo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3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61228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0292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chaîne complète, vérifiée à chaque étape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0,9465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51460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XGBoost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7964" y="196596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0,9823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367964" y="251460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95848" y="196596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095848" y="251460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ETL corrigées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823731" y="196596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823731" y="251460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fuite de données résolue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3246120"/>
            <a:ext cx="10911535" cy="1737360"/>
          </a:xfrm>
          <a:prstGeom prst="roundRect">
            <a:avLst>
              <a:gd name="adj" fmla="val 4211"/>
            </a:avLst>
          </a:prstGeom>
          <a:solidFill>
            <a:srgbClr val="0E467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429000"/>
            <a:ext cx="10271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l'exploration brute à une application de scoring déployée : chaque étape a été confrontée à des données réelles plutôt que supposée correcte par construction — condition nécessaire à l'adoption d'un tel outil par les équipes de rétention client.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— Équipe HAFAS-K · Juillet 2026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566562"/>
            <a:ext cx="201900" cy="201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— ORGANISATION D'ÉQUIPE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travail transversal, pas en silos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4688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 d'intégration, revue de code croisée avant fusion.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938" y="219456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58258" y="24688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ETL_EyaFares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658258" y="29718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ETL, entrepôt de données, tests de cohérence.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27797" y="219456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 w="12700">
            <a:solidFill>
              <a:srgbClr val="D6DE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02117" y="24688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AishaHamzaSahar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402117" y="29718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BI, modélisation ML/datamining, application web.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5897880"/>
            <a:ext cx="317296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897880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TÂCHES SUR TRELLO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HAFAS-K — Churn Client Bancaire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et Prediction du Churn Client Bancaire</dc:title>
  <dc:subject>PptxGenJS Presentation</dc:subject>
  <dc:creator>Equipe HAFAS-K</dc:creator>
  <cp:lastModifiedBy>Equipe HAFAS-K</cp:lastModifiedBy>
  <cp:revision>1</cp:revision>
  <dcterms:created xsi:type="dcterms:W3CDTF">2026-07-07T19:05:56Z</dcterms:created>
  <dcterms:modified xsi:type="dcterms:W3CDTF">2026-07-07T19:05:56Z</dcterms:modified>
</cp:coreProperties>
</file>